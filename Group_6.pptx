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53100" cy="3238500"/>
  <p:notesSz cx="6858000" cy="9144000"/>
  <p:embeddedFontLst>
    <p:embeddedFont>
      <p:font typeface="IBM Plex Sans" panose="020B0503050203000203" pitchFamily="34" charset="0"/>
      <p:regular r:id="rId12"/>
    </p:embeddedFont>
    <p:embeddedFont>
      <p:font typeface="IBM Plex Sans Condensed" panose="020B0506050203000203" pitchFamily="34" charset="0"/>
      <p:regular r:id="rId13"/>
    </p:embeddedFont>
    <p:embeddedFont>
      <p:font typeface="IBM Plex Sans Condensed Bold" panose="020B0806050203000203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4" autoAdjust="0"/>
  </p:normalViewPr>
  <p:slideViewPr>
    <p:cSldViewPr>
      <p:cViewPr varScale="1">
        <p:scale>
          <a:sx n="161" d="100"/>
          <a:sy n="161" d="100"/>
        </p:scale>
        <p:origin x="9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71ACDDC-0001-7E0F-5B24-831C82E45BA4}"/>
              </a:ext>
            </a:extLst>
          </p:cNvPr>
          <p:cNvSpPr/>
          <p:nvPr/>
        </p:nvSpPr>
        <p:spPr>
          <a:xfrm>
            <a:off x="514350" y="171450"/>
            <a:ext cx="48006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594448" y="2592124"/>
            <a:ext cx="573658" cy="1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May</a:t>
            </a:r>
            <a:r>
              <a:rPr lang="en-US" sz="1090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2302" y="1866719"/>
            <a:ext cx="1370930" cy="1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Chandana Vinay Kumar</a:t>
            </a:r>
            <a:r>
              <a:rPr lang="en-US" sz="1090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5554" y="1866719"/>
            <a:ext cx="1423169" cy="1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Raaghul Nataraj Kannan</a:t>
            </a:r>
            <a:r>
              <a:rPr lang="en-US" sz="1090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93299" y="1866719"/>
            <a:ext cx="1245451" cy="179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Narahari </a:t>
            </a:r>
            <a:r>
              <a:rPr lang="en-US" sz="1090" spc="14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Kommi</a:t>
            </a:r>
            <a:endParaRPr lang="en-US" sz="1090" spc="14" dirty="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00692" y="2038788"/>
            <a:ext cx="1334467" cy="1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Madhurika Kandukoori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05499" y="2038788"/>
            <a:ext cx="1547451" cy="179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Raja Shree Reddy </a:t>
            </a:r>
            <a:r>
              <a:rPr lang="en-US" sz="1090" spc="14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Pailla</a:t>
            </a:r>
            <a:endParaRPr lang="en-US" sz="1090" spc="14" dirty="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491124" y="3123038"/>
            <a:ext cx="183512" cy="9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1/10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AC55F-6412-8D7F-95FE-5983CB3EB1EE}"/>
              </a:ext>
            </a:extLst>
          </p:cNvPr>
          <p:cNvSpPr txBox="1"/>
          <p:nvPr/>
        </p:nvSpPr>
        <p:spPr>
          <a:xfrm>
            <a:off x="552450" y="233279"/>
            <a:ext cx="4648200" cy="1259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5"/>
              </a:lnSpc>
            </a:pPr>
            <a:r>
              <a:rPr lang="en-US" sz="1800" spc="20" dirty="0">
                <a:solidFill>
                  <a:schemeClr val="bg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 KG</a:t>
            </a:r>
          </a:p>
          <a:p>
            <a:pPr algn="ctr">
              <a:lnSpc>
                <a:spcPts val="1535"/>
              </a:lnSpc>
            </a:pPr>
            <a:r>
              <a:rPr lang="en-US" sz="1800" spc="-8" dirty="0">
                <a:solidFill>
                  <a:schemeClr val="bg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Knowledge-Graph-Grounded RAG</a:t>
            </a:r>
          </a:p>
          <a:p>
            <a:pPr algn="ctr">
              <a:lnSpc>
                <a:spcPts val="1535"/>
              </a:lnSpc>
            </a:pPr>
            <a:r>
              <a:rPr lang="en-US" sz="1800" spc="-8" dirty="0">
                <a:solidFill>
                  <a:schemeClr val="bg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 Logical Consistency Checking</a:t>
            </a:r>
          </a:p>
          <a:p>
            <a:pPr algn="ctr">
              <a:lnSpc>
                <a:spcPts val="1066"/>
              </a:lnSpc>
            </a:pPr>
            <a:endParaRPr lang="en-US" sz="1800" spc="-8" dirty="0">
              <a:solidFill>
                <a:schemeClr val="bg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ctr">
              <a:lnSpc>
                <a:spcPts val="1065"/>
              </a:lnSpc>
            </a:pPr>
            <a:r>
              <a:rPr lang="en-US" sz="1050" spc="13" dirty="0">
                <a:solidFill>
                  <a:schemeClr val="bg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Applied to Financial Document Analysis</a:t>
            </a:r>
          </a:p>
          <a:p>
            <a:pPr algn="ctr">
              <a:lnSpc>
                <a:spcPts val="1167"/>
              </a:lnSpc>
            </a:pPr>
            <a:endParaRPr lang="en-US" sz="1050" spc="13" dirty="0">
              <a:solidFill>
                <a:schemeClr val="bg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ctr">
              <a:lnSpc>
                <a:spcPts val="1167"/>
              </a:lnSpc>
            </a:pPr>
            <a:r>
              <a:rPr lang="en-US" sz="1200" spc="14" dirty="0">
                <a:solidFill>
                  <a:schemeClr val="bg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CSE 579 — Knowledge Representation &amp;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9703" y="571500"/>
            <a:ext cx="5537197" cy="1244603"/>
            <a:chOff x="0" y="0"/>
            <a:chExt cx="7382929" cy="16594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82891" cy="1659509"/>
            </a:xfrm>
            <a:custGeom>
              <a:avLst/>
              <a:gdLst/>
              <a:ahLst/>
              <a:cxnLst/>
              <a:rect l="l" t="t" r="r" b="b"/>
              <a:pathLst>
                <a:path w="7382891" h="1659509">
                  <a:moveTo>
                    <a:pt x="0" y="0"/>
                  </a:moveTo>
                  <a:lnTo>
                    <a:pt x="7382891" y="0"/>
                  </a:lnTo>
                  <a:lnTo>
                    <a:pt x="7382891" y="1659509"/>
                  </a:lnTo>
                  <a:lnTo>
                    <a:pt x="0" y="1659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187703" y="1828800"/>
            <a:ext cx="2489197" cy="774697"/>
            <a:chOff x="0" y="0"/>
            <a:chExt cx="3318929" cy="10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18891" cy="1032891"/>
            </a:xfrm>
            <a:custGeom>
              <a:avLst/>
              <a:gdLst/>
              <a:ahLst/>
              <a:cxnLst/>
              <a:rect l="l" t="t" r="r" b="b"/>
              <a:pathLst>
                <a:path w="3318891" h="1032891">
                  <a:moveTo>
                    <a:pt x="0" y="0"/>
                  </a:moveTo>
                  <a:lnTo>
                    <a:pt x="3318891" y="0"/>
                  </a:lnTo>
                  <a:lnTo>
                    <a:pt x="3318891" y="1032891"/>
                  </a:lnTo>
                  <a:lnTo>
                    <a:pt x="0" y="1032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8004" y="65522"/>
            <a:ext cx="1980486" cy="24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Background &amp; 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870" y="652739"/>
            <a:ext cx="2832954" cy="901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4"/>
              </a:lnSpc>
            </a:pPr>
            <a:r>
              <a:rPr lang="en-US" sz="1195" spc="-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Core Problem</a:t>
            </a:r>
          </a:p>
          <a:p>
            <a:pPr algn="l">
              <a:lnSpc>
                <a:spcPts val="1354"/>
              </a:lnSpc>
            </a:pP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LLMs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hallucinate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numerical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facts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financial QA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fabricating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revenue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figures,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 values,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EPS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factually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incorrect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 undetectable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standard</a:t>
            </a:r>
            <a:r>
              <a:rPr lang="en-US" sz="1090" spc="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10004" y="1901523"/>
            <a:ext cx="1505731" cy="1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Our Answer: ReasonKG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24355" y="2093491"/>
            <a:ext cx="76646" cy="1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b="1" spc="14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10004" y="738464"/>
            <a:ext cx="1910791" cy="149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7"/>
              </a:lnSpc>
            </a:pPr>
            <a:r>
              <a:rPr lang="en-US" sz="1195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 Vanilla RAG Cannot Do</a:t>
            </a:r>
          </a:p>
          <a:p>
            <a:pPr algn="just">
              <a:lnSpc>
                <a:spcPts val="545"/>
              </a:lnSpc>
            </a:pPr>
            <a:endParaRPr lang="en-US" sz="1195" spc="-2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310004" y="845830"/>
            <a:ext cx="2181120" cy="83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527" lvl="1" indent="-117764" algn="l">
              <a:lnSpc>
                <a:spcPts val="1653"/>
              </a:lnSpc>
              <a:buFont typeface="Arial"/>
              <a:buChar char="•"/>
            </a:pP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Verify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specific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numbers</a:t>
            </a:r>
          </a:p>
          <a:p>
            <a:pPr marL="235527" lvl="1" indent="-117764" algn="l">
              <a:lnSpc>
                <a:spcPts val="1653"/>
              </a:lnSpc>
              <a:buFont typeface="Arial"/>
              <a:buChar char="•"/>
            </a:pP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Track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entity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relationships</a:t>
            </a:r>
          </a:p>
          <a:p>
            <a:pPr marL="235528" lvl="1" indent="-117764" algn="l">
              <a:lnSpc>
                <a:spcPts val="1653"/>
              </a:lnSpc>
              <a:buFont typeface="Arial"/>
              <a:buChar char="•"/>
            </a:pP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Detect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hallucinated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claims</a:t>
            </a:r>
          </a:p>
          <a:p>
            <a:pPr marL="235527" lvl="1" indent="-117764" algn="l">
              <a:lnSpc>
                <a:spcPts val="1653"/>
              </a:lnSpc>
              <a:buFont typeface="Arial"/>
              <a:buChar char="•"/>
            </a:pP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Cross-check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against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ground</a:t>
            </a:r>
            <a:r>
              <a:rPr lang="en-US" sz="1090" spc="1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truth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10004" y="2107779"/>
            <a:ext cx="1114351" cy="1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b="1" spc="1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Knowledge Graph</a:t>
            </a:r>
            <a:r>
              <a:rPr lang="en-US" sz="1090" b="1" spc="15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2234" y="2099278"/>
            <a:ext cx="527758" cy="179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b="1" spc="1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Hybrid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10004" y="2270569"/>
            <a:ext cx="1961555" cy="1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b="1" spc="1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Retrieval</a:t>
            </a:r>
            <a:r>
              <a:rPr lang="en-US" sz="1090" b="1" spc="15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1090" b="1" spc="1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+</a:t>
            </a:r>
            <a:r>
              <a:rPr lang="en-US" sz="1090" b="1" spc="15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1090" b="1" spc="1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Consistency</a:t>
            </a:r>
            <a:r>
              <a:rPr lang="en-US" sz="1090" b="1" spc="15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1090" b="1" spc="1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Checker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6870" y="1635122"/>
            <a:ext cx="2832954" cy="142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547" lvl="1">
              <a:lnSpc>
                <a:spcPts val="1793"/>
              </a:lnSpc>
            </a:pPr>
            <a:r>
              <a:rPr lang="en-US" sz="996" spc="15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Why</a:t>
            </a:r>
            <a:r>
              <a:rPr lang="en-US" sz="996" spc="15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5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Financial</a:t>
            </a:r>
            <a:r>
              <a:rPr lang="en-US" sz="996" spc="15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5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Documents?</a:t>
            </a:r>
            <a:endParaRPr lang="en-US" sz="996" spc="12" dirty="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215093" lvl="1" indent="-107546" algn="l">
              <a:lnSpc>
                <a:spcPts val="1793"/>
              </a:lnSpc>
              <a:buFont typeface="Arial"/>
              <a:buChar char="•"/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Public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&amp;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verifiable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SEC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10-K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filings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(EDGAR) Rich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numerical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ground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truth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(revenue,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EPS,</a:t>
            </a:r>
          </a:p>
          <a:p>
            <a:pPr marL="215093" lvl="1" indent="-107546" algn="l">
              <a:lnSpc>
                <a:spcPts val="597"/>
              </a:lnSpc>
              <a:buFont typeface="Arial"/>
              <a:buChar char="•"/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profit)</a:t>
            </a:r>
          </a:p>
          <a:p>
            <a:pPr marL="215093" lvl="1" indent="-107546" algn="l">
              <a:lnSpc>
                <a:spcPts val="2490"/>
              </a:lnSpc>
              <a:buFont typeface="Arial"/>
              <a:buChar char="•"/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High-stakes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domain: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errors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carry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</a:t>
            </a:r>
          </a:p>
          <a:p>
            <a:pPr marL="215093" lvl="1" indent="-107546" algn="l">
              <a:lnSpc>
                <a:spcPts val="498"/>
              </a:lnSpc>
              <a:buFont typeface="Arial"/>
              <a:buChar char="•"/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consequences</a:t>
            </a:r>
          </a:p>
          <a:p>
            <a:pPr marL="215093" lvl="1" indent="-107546" algn="l">
              <a:lnSpc>
                <a:spcPts val="2490"/>
              </a:lnSpc>
              <a:buFont typeface="Arial"/>
              <a:buChar char="•"/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Direct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benchmark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available: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FinanceBench</a:t>
            </a:r>
            <a:endParaRPr lang="en-US" sz="996" spc="12" dirty="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91124" y="3123038"/>
            <a:ext cx="191976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8541" y="599780"/>
            <a:ext cx="5243484" cy="11087"/>
            <a:chOff x="0" y="0"/>
            <a:chExt cx="5243487" cy="110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43449" cy="11049"/>
            </a:xfrm>
            <a:custGeom>
              <a:avLst/>
              <a:gdLst/>
              <a:ahLst/>
              <a:cxnLst/>
              <a:rect l="l" t="t" r="r" b="b"/>
              <a:pathLst>
                <a:path w="5243449" h="11049">
                  <a:moveTo>
                    <a:pt x="0" y="0"/>
                  </a:moveTo>
                  <a:lnTo>
                    <a:pt x="5243449" y="0"/>
                  </a:lnTo>
                  <a:lnTo>
                    <a:pt x="5243449" y="11049"/>
                  </a:lnTo>
                  <a:lnTo>
                    <a:pt x="0" y="11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541" y="899217"/>
            <a:ext cx="5243484" cy="6925"/>
            <a:chOff x="0" y="0"/>
            <a:chExt cx="5243487" cy="69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43449" cy="6985"/>
            </a:xfrm>
            <a:custGeom>
              <a:avLst/>
              <a:gdLst/>
              <a:ahLst/>
              <a:cxnLst/>
              <a:rect l="l" t="t" r="r" b="b"/>
              <a:pathLst>
                <a:path w="5243449" h="6985">
                  <a:moveTo>
                    <a:pt x="0" y="0"/>
                  </a:moveTo>
                  <a:lnTo>
                    <a:pt x="5243449" y="0"/>
                  </a:lnTo>
                  <a:lnTo>
                    <a:pt x="5243449" y="6985"/>
                  </a:lnTo>
                  <a:lnTo>
                    <a:pt x="0" y="6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541" y="2768470"/>
            <a:ext cx="5243484" cy="11087"/>
            <a:chOff x="0" y="0"/>
            <a:chExt cx="5243487" cy="11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43449" cy="11049"/>
            </a:xfrm>
            <a:custGeom>
              <a:avLst/>
              <a:gdLst/>
              <a:ahLst/>
              <a:cxnLst/>
              <a:rect l="l" t="t" r="r" b="b"/>
              <a:pathLst>
                <a:path w="5243449" h="11049">
                  <a:moveTo>
                    <a:pt x="0" y="0"/>
                  </a:moveTo>
                  <a:lnTo>
                    <a:pt x="5243449" y="0"/>
                  </a:lnTo>
                  <a:lnTo>
                    <a:pt x="5243449" y="11049"/>
                  </a:lnTo>
                  <a:lnTo>
                    <a:pt x="0" y="11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8004" y="65522"/>
            <a:ext cx="2548157" cy="24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Progress from Initial Presentation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4465" y="595951"/>
            <a:ext cx="1044959" cy="76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Component</a:t>
            </a:r>
          </a:p>
          <a:p>
            <a:pPr algn="l">
              <a:lnSpc>
                <a:spcPts val="232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996" b="1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Coverage</a:t>
            </a:r>
          </a:p>
          <a:p>
            <a:pPr algn="l">
              <a:lnSpc>
                <a:spcPts val="1197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Knowledge</a:t>
            </a:r>
            <a:r>
              <a:rPr lang="en-US" sz="996" b="1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Graph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465" y="1585693"/>
            <a:ext cx="580578" cy="167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Retrieval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465" y="1923126"/>
            <a:ext cx="1211704" cy="66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Consistency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Checker</a:t>
            </a:r>
            <a:r>
              <a:rPr lang="en-US" sz="996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Evaluation</a:t>
            </a:r>
          </a:p>
          <a:p>
            <a:pPr algn="l">
              <a:lnSpc>
                <a:spcPts val="1761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LLM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4251" y="691201"/>
            <a:ext cx="1425064" cy="167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Initial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Presentation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46060" y="595951"/>
            <a:ext cx="2203247" cy="152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Final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Presentation</a:t>
            </a:r>
          </a:p>
          <a:p>
            <a:pPr algn="l">
              <a:lnSpc>
                <a:spcPts val="2325"/>
              </a:lnSpc>
            </a:pP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companies,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years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(2015–2025)</a:t>
            </a:r>
          </a:p>
          <a:p>
            <a:pPr algn="l">
              <a:lnSpc>
                <a:spcPts val="1195"/>
              </a:lnSpc>
            </a:pP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218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metrics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Neo4j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via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SEC XBRL</a:t>
            </a:r>
          </a:p>
          <a:p>
            <a:pPr algn="l">
              <a:lnSpc>
                <a:spcPts val="2329"/>
              </a:lnSpc>
            </a:pP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Hybrid: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498"/>
              </a:lnSpc>
            </a:pP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FAISS</a:t>
            </a:r>
          </a:p>
          <a:p>
            <a:pPr algn="l">
              <a:lnSpc>
                <a:spcPts val="2490"/>
              </a:lnSpc>
            </a:pP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Fully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built,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10/10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edge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case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tests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1965" y="1585693"/>
            <a:ext cx="1257002" cy="15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PageIndex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KG-guided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46088" y="2184921"/>
            <a:ext cx="564059" cy="15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queries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82244" y="2218373"/>
            <a:ext cx="1452905" cy="15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×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systems,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46079" y="2427665"/>
            <a:ext cx="2203247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14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GPT-4o</a:t>
            </a:r>
            <a:r>
              <a:rPr lang="en-US" sz="996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4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via</a:t>
            </a:r>
            <a:r>
              <a:rPr lang="en-US" sz="996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4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OpenAI</a:t>
            </a:r>
            <a:r>
              <a:rPr lang="en-US" sz="996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4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API</a:t>
            </a:r>
            <a:r>
              <a:rPr lang="en-US" sz="996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4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free</a:t>
            </a:r>
            <a:r>
              <a:rPr lang="en-US" sz="996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4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trial credits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4242" y="950033"/>
            <a:ext cx="1468793" cy="417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company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(AAPL),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year Schema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defined,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basic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4318" y="1587360"/>
            <a:ext cx="1398432" cy="167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2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PageIndex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planned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54242" y="1924783"/>
            <a:ext cx="1468803" cy="64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Designed,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implemented Expected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outcomes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only GPT-4o-mini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(planned)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91124" y="3123038"/>
            <a:ext cx="191976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95967" y="613988"/>
            <a:ext cx="5168009" cy="1744473"/>
            <a:chOff x="63500" y="63500"/>
            <a:chExt cx="5168006" cy="1744476"/>
          </a:xfrm>
        </p:grpSpPr>
        <p:sp>
          <p:nvSpPr>
            <p:cNvPr id="5" name="Freeform 5"/>
            <p:cNvSpPr/>
            <p:nvPr/>
          </p:nvSpPr>
          <p:spPr>
            <a:xfrm>
              <a:off x="65913" y="128651"/>
              <a:ext cx="882776" cy="701550"/>
            </a:xfrm>
            <a:custGeom>
              <a:avLst/>
              <a:gdLst/>
              <a:ahLst/>
              <a:cxnLst/>
              <a:rect l="l" t="t" r="r" b="b"/>
              <a:pathLst>
                <a:path w="882776" h="701550">
                  <a:moveTo>
                    <a:pt x="832103" y="0"/>
                  </a:moveTo>
                  <a:lnTo>
                    <a:pt x="50673" y="0"/>
                  </a:lnTo>
                  <a:cubicBezTo>
                    <a:pt x="22733" y="0"/>
                    <a:pt x="0" y="22606"/>
                    <a:pt x="0" y="50673"/>
                  </a:cubicBezTo>
                  <a:lnTo>
                    <a:pt x="0" y="650877"/>
                  </a:lnTo>
                  <a:cubicBezTo>
                    <a:pt x="0" y="678817"/>
                    <a:pt x="22606" y="701550"/>
                    <a:pt x="50673" y="701550"/>
                  </a:cubicBezTo>
                  <a:lnTo>
                    <a:pt x="832103" y="701550"/>
                  </a:lnTo>
                  <a:cubicBezTo>
                    <a:pt x="860043" y="701550"/>
                    <a:pt x="882776" y="678944"/>
                    <a:pt x="882776" y="650877"/>
                  </a:cubicBezTo>
                  <a:lnTo>
                    <a:pt x="882776" y="50673"/>
                  </a:lnTo>
                  <a:cubicBezTo>
                    <a:pt x="882776" y="22733"/>
                    <a:pt x="860170" y="0"/>
                    <a:pt x="832103" y="0"/>
                  </a:cubicBez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126111"/>
              <a:ext cx="887602" cy="706503"/>
            </a:xfrm>
            <a:custGeom>
              <a:avLst/>
              <a:gdLst/>
              <a:ahLst/>
              <a:cxnLst/>
              <a:rect l="l" t="t" r="r" b="b"/>
              <a:pathLst>
                <a:path w="887602" h="706503">
                  <a:moveTo>
                    <a:pt x="834516" y="5080"/>
                  </a:moveTo>
                  <a:lnTo>
                    <a:pt x="53086" y="5080"/>
                  </a:lnTo>
                  <a:lnTo>
                    <a:pt x="53086" y="2540"/>
                  </a:lnTo>
                  <a:lnTo>
                    <a:pt x="53086" y="5080"/>
                  </a:lnTo>
                  <a:cubicBezTo>
                    <a:pt x="26543" y="5080"/>
                    <a:pt x="4953" y="26543"/>
                    <a:pt x="4953" y="53213"/>
                  </a:cubicBezTo>
                  <a:lnTo>
                    <a:pt x="2540" y="53213"/>
                  </a:lnTo>
                  <a:lnTo>
                    <a:pt x="5080" y="53213"/>
                  </a:lnTo>
                  <a:lnTo>
                    <a:pt x="5080" y="653417"/>
                  </a:lnTo>
                  <a:lnTo>
                    <a:pt x="2540" y="653417"/>
                  </a:lnTo>
                  <a:lnTo>
                    <a:pt x="5080" y="653417"/>
                  </a:lnTo>
                  <a:cubicBezTo>
                    <a:pt x="5080" y="679960"/>
                    <a:pt x="26543" y="701550"/>
                    <a:pt x="53213" y="701550"/>
                  </a:cubicBezTo>
                  <a:lnTo>
                    <a:pt x="53213" y="704090"/>
                  </a:lnTo>
                  <a:lnTo>
                    <a:pt x="53213" y="701550"/>
                  </a:lnTo>
                  <a:lnTo>
                    <a:pt x="834516" y="701550"/>
                  </a:lnTo>
                  <a:lnTo>
                    <a:pt x="834516" y="704090"/>
                  </a:lnTo>
                  <a:lnTo>
                    <a:pt x="834516" y="701550"/>
                  </a:lnTo>
                  <a:cubicBezTo>
                    <a:pt x="861059" y="701550"/>
                    <a:pt x="882649" y="680087"/>
                    <a:pt x="882649" y="653417"/>
                  </a:cubicBezTo>
                  <a:lnTo>
                    <a:pt x="885189" y="653417"/>
                  </a:lnTo>
                  <a:lnTo>
                    <a:pt x="882649" y="653417"/>
                  </a:lnTo>
                  <a:lnTo>
                    <a:pt x="882649" y="53213"/>
                  </a:lnTo>
                  <a:lnTo>
                    <a:pt x="885189" y="53213"/>
                  </a:lnTo>
                  <a:lnTo>
                    <a:pt x="882649" y="53213"/>
                  </a:lnTo>
                  <a:cubicBezTo>
                    <a:pt x="882649" y="26670"/>
                    <a:pt x="861186" y="5080"/>
                    <a:pt x="834516" y="5080"/>
                  </a:cubicBezTo>
                  <a:lnTo>
                    <a:pt x="834516" y="2540"/>
                  </a:lnTo>
                  <a:lnTo>
                    <a:pt x="834516" y="5080"/>
                  </a:lnTo>
                  <a:moveTo>
                    <a:pt x="834516" y="0"/>
                  </a:moveTo>
                  <a:cubicBezTo>
                    <a:pt x="863853" y="0"/>
                    <a:pt x="887602" y="23749"/>
                    <a:pt x="887602" y="53086"/>
                  </a:cubicBezTo>
                  <a:lnTo>
                    <a:pt x="887602" y="653417"/>
                  </a:lnTo>
                  <a:cubicBezTo>
                    <a:pt x="887602" y="682754"/>
                    <a:pt x="863853" y="706503"/>
                    <a:pt x="834516" y="706503"/>
                  </a:cubicBezTo>
                  <a:lnTo>
                    <a:pt x="53086" y="706503"/>
                  </a:lnTo>
                  <a:cubicBezTo>
                    <a:pt x="23749" y="706630"/>
                    <a:pt x="0" y="682754"/>
                    <a:pt x="0" y="653417"/>
                  </a:cubicBezTo>
                  <a:lnTo>
                    <a:pt x="0" y="53213"/>
                  </a:lnTo>
                  <a:cubicBezTo>
                    <a:pt x="0" y="23749"/>
                    <a:pt x="23749" y="0"/>
                    <a:pt x="53086" y="0"/>
                  </a:cubicBezTo>
                  <a:lnTo>
                    <a:pt x="834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36141" y="144399"/>
              <a:ext cx="882649" cy="670054"/>
            </a:xfrm>
            <a:custGeom>
              <a:avLst/>
              <a:gdLst/>
              <a:ahLst/>
              <a:cxnLst/>
              <a:rect l="l" t="t" r="r" b="b"/>
              <a:pathLst>
                <a:path w="882649" h="670054">
                  <a:moveTo>
                    <a:pt x="831976" y="127"/>
                  </a:moveTo>
                  <a:lnTo>
                    <a:pt x="50673" y="127"/>
                  </a:lnTo>
                  <a:cubicBezTo>
                    <a:pt x="22733" y="127"/>
                    <a:pt x="0" y="22733"/>
                    <a:pt x="0" y="50800"/>
                  </a:cubicBezTo>
                  <a:lnTo>
                    <a:pt x="0" y="619381"/>
                  </a:lnTo>
                  <a:cubicBezTo>
                    <a:pt x="0" y="647321"/>
                    <a:pt x="22606" y="670054"/>
                    <a:pt x="50673" y="670054"/>
                  </a:cubicBezTo>
                  <a:lnTo>
                    <a:pt x="831976" y="670054"/>
                  </a:lnTo>
                  <a:cubicBezTo>
                    <a:pt x="859916" y="670054"/>
                    <a:pt x="882649" y="647448"/>
                    <a:pt x="882649" y="619381"/>
                  </a:cubicBezTo>
                  <a:lnTo>
                    <a:pt x="882649" y="50673"/>
                  </a:lnTo>
                  <a:cubicBezTo>
                    <a:pt x="882649" y="22733"/>
                    <a:pt x="860043" y="0"/>
                    <a:pt x="831976" y="0"/>
                  </a:cubicBezTo>
                  <a:close/>
                </a:path>
              </a:pathLst>
            </a:custGeom>
            <a:solidFill>
              <a:srgbClr val="E6FF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131188" y="139319"/>
              <a:ext cx="892555" cy="680087"/>
            </a:xfrm>
            <a:custGeom>
              <a:avLst/>
              <a:gdLst/>
              <a:ahLst/>
              <a:cxnLst/>
              <a:rect l="l" t="t" r="r" b="b"/>
              <a:pathLst>
                <a:path w="892555" h="680087">
                  <a:moveTo>
                    <a:pt x="836929" y="10160"/>
                  </a:moveTo>
                  <a:lnTo>
                    <a:pt x="55626" y="10160"/>
                  </a:lnTo>
                  <a:lnTo>
                    <a:pt x="55626" y="5080"/>
                  </a:lnTo>
                  <a:lnTo>
                    <a:pt x="55626" y="10160"/>
                  </a:lnTo>
                  <a:cubicBezTo>
                    <a:pt x="30480" y="10160"/>
                    <a:pt x="10033" y="30607"/>
                    <a:pt x="10033" y="55753"/>
                  </a:cubicBezTo>
                  <a:lnTo>
                    <a:pt x="4953" y="55753"/>
                  </a:lnTo>
                  <a:lnTo>
                    <a:pt x="10033" y="55753"/>
                  </a:lnTo>
                  <a:lnTo>
                    <a:pt x="10033" y="624461"/>
                  </a:lnTo>
                  <a:lnTo>
                    <a:pt x="4953" y="624461"/>
                  </a:lnTo>
                  <a:lnTo>
                    <a:pt x="10033" y="624461"/>
                  </a:lnTo>
                  <a:cubicBezTo>
                    <a:pt x="10033" y="649607"/>
                    <a:pt x="30480" y="670054"/>
                    <a:pt x="55626" y="670054"/>
                  </a:cubicBezTo>
                  <a:lnTo>
                    <a:pt x="55626" y="675134"/>
                  </a:lnTo>
                  <a:lnTo>
                    <a:pt x="55626" y="670054"/>
                  </a:lnTo>
                  <a:lnTo>
                    <a:pt x="836929" y="670054"/>
                  </a:lnTo>
                  <a:lnTo>
                    <a:pt x="836929" y="675134"/>
                  </a:lnTo>
                  <a:lnTo>
                    <a:pt x="836929" y="670054"/>
                  </a:lnTo>
                  <a:cubicBezTo>
                    <a:pt x="862075" y="670054"/>
                    <a:pt x="882522" y="649607"/>
                    <a:pt x="882522" y="624461"/>
                  </a:cubicBezTo>
                  <a:lnTo>
                    <a:pt x="887602" y="624461"/>
                  </a:lnTo>
                  <a:lnTo>
                    <a:pt x="882522" y="624461"/>
                  </a:lnTo>
                  <a:lnTo>
                    <a:pt x="882522" y="55753"/>
                  </a:lnTo>
                  <a:lnTo>
                    <a:pt x="887602" y="55753"/>
                  </a:lnTo>
                  <a:lnTo>
                    <a:pt x="882522" y="55753"/>
                  </a:lnTo>
                  <a:cubicBezTo>
                    <a:pt x="882522" y="30607"/>
                    <a:pt x="862075" y="10160"/>
                    <a:pt x="836929" y="10160"/>
                  </a:cubicBezTo>
                  <a:lnTo>
                    <a:pt x="836929" y="5080"/>
                  </a:lnTo>
                  <a:lnTo>
                    <a:pt x="836929" y="10160"/>
                  </a:lnTo>
                  <a:moveTo>
                    <a:pt x="836929" y="0"/>
                  </a:moveTo>
                  <a:cubicBezTo>
                    <a:pt x="867663" y="0"/>
                    <a:pt x="892555" y="24892"/>
                    <a:pt x="892555" y="55626"/>
                  </a:cubicBezTo>
                  <a:lnTo>
                    <a:pt x="892555" y="624461"/>
                  </a:lnTo>
                  <a:cubicBezTo>
                    <a:pt x="892555" y="655195"/>
                    <a:pt x="867663" y="680087"/>
                    <a:pt x="836929" y="680087"/>
                  </a:cubicBezTo>
                  <a:lnTo>
                    <a:pt x="55626" y="680087"/>
                  </a:lnTo>
                  <a:cubicBezTo>
                    <a:pt x="24892" y="680087"/>
                    <a:pt x="0" y="655195"/>
                    <a:pt x="0" y="624461"/>
                  </a:cubicBezTo>
                  <a:lnTo>
                    <a:pt x="0" y="55753"/>
                  </a:lnTo>
                  <a:cubicBezTo>
                    <a:pt x="0" y="25019"/>
                    <a:pt x="24892" y="127"/>
                    <a:pt x="55626" y="127"/>
                  </a:cubicBezTo>
                  <a:lnTo>
                    <a:pt x="836929" y="127"/>
                  </a:lnTo>
                  <a:close/>
                </a:path>
              </a:pathLst>
            </a:custGeom>
            <a:solidFill>
              <a:srgbClr val="00825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06242" y="139192"/>
              <a:ext cx="882649" cy="680468"/>
            </a:xfrm>
            <a:custGeom>
              <a:avLst/>
              <a:gdLst/>
              <a:ahLst/>
              <a:cxnLst/>
              <a:rect l="l" t="t" r="r" b="b"/>
              <a:pathLst>
                <a:path w="882649" h="680468">
                  <a:moveTo>
                    <a:pt x="831976" y="0"/>
                  </a:moveTo>
                  <a:lnTo>
                    <a:pt x="50673" y="0"/>
                  </a:lnTo>
                  <a:cubicBezTo>
                    <a:pt x="22733" y="0"/>
                    <a:pt x="0" y="22606"/>
                    <a:pt x="0" y="50673"/>
                  </a:cubicBezTo>
                  <a:lnTo>
                    <a:pt x="0" y="629795"/>
                  </a:lnTo>
                  <a:cubicBezTo>
                    <a:pt x="0" y="657735"/>
                    <a:pt x="22606" y="680468"/>
                    <a:pt x="50673" y="680468"/>
                  </a:cubicBezTo>
                  <a:lnTo>
                    <a:pt x="831976" y="680468"/>
                  </a:lnTo>
                  <a:cubicBezTo>
                    <a:pt x="859916" y="680468"/>
                    <a:pt x="882649" y="657862"/>
                    <a:pt x="882649" y="629795"/>
                  </a:cubicBezTo>
                  <a:lnTo>
                    <a:pt x="882649" y="50673"/>
                  </a:lnTo>
                  <a:cubicBezTo>
                    <a:pt x="882649" y="22733"/>
                    <a:pt x="860043" y="0"/>
                    <a:pt x="831976" y="0"/>
                  </a:cubicBez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03829" y="136652"/>
              <a:ext cx="887475" cy="685421"/>
            </a:xfrm>
            <a:custGeom>
              <a:avLst/>
              <a:gdLst/>
              <a:ahLst/>
              <a:cxnLst/>
              <a:rect l="l" t="t" r="r" b="b"/>
              <a:pathLst>
                <a:path w="887475" h="685421">
                  <a:moveTo>
                    <a:pt x="834389" y="5080"/>
                  </a:moveTo>
                  <a:lnTo>
                    <a:pt x="53086" y="5080"/>
                  </a:lnTo>
                  <a:lnTo>
                    <a:pt x="53086" y="2540"/>
                  </a:lnTo>
                  <a:lnTo>
                    <a:pt x="53086" y="5080"/>
                  </a:lnTo>
                  <a:cubicBezTo>
                    <a:pt x="26543" y="5080"/>
                    <a:pt x="4953" y="26543"/>
                    <a:pt x="4953" y="53213"/>
                  </a:cubicBezTo>
                  <a:lnTo>
                    <a:pt x="2413" y="53213"/>
                  </a:lnTo>
                  <a:lnTo>
                    <a:pt x="4953" y="53213"/>
                  </a:lnTo>
                  <a:lnTo>
                    <a:pt x="4953" y="632335"/>
                  </a:lnTo>
                  <a:lnTo>
                    <a:pt x="2413" y="632335"/>
                  </a:lnTo>
                  <a:lnTo>
                    <a:pt x="4953" y="632335"/>
                  </a:lnTo>
                  <a:cubicBezTo>
                    <a:pt x="4953" y="658878"/>
                    <a:pt x="26416" y="680468"/>
                    <a:pt x="53086" y="680468"/>
                  </a:cubicBezTo>
                  <a:lnTo>
                    <a:pt x="53086" y="683008"/>
                  </a:lnTo>
                  <a:lnTo>
                    <a:pt x="53086" y="680468"/>
                  </a:lnTo>
                  <a:lnTo>
                    <a:pt x="834389" y="680468"/>
                  </a:lnTo>
                  <a:lnTo>
                    <a:pt x="834389" y="683008"/>
                  </a:lnTo>
                  <a:lnTo>
                    <a:pt x="834389" y="680468"/>
                  </a:lnTo>
                  <a:cubicBezTo>
                    <a:pt x="860932" y="680468"/>
                    <a:pt x="882522" y="659005"/>
                    <a:pt x="882522" y="632335"/>
                  </a:cubicBezTo>
                  <a:lnTo>
                    <a:pt x="885062" y="632335"/>
                  </a:lnTo>
                  <a:lnTo>
                    <a:pt x="882522" y="632335"/>
                  </a:lnTo>
                  <a:lnTo>
                    <a:pt x="882522" y="53213"/>
                  </a:lnTo>
                  <a:lnTo>
                    <a:pt x="885062" y="53213"/>
                  </a:lnTo>
                  <a:lnTo>
                    <a:pt x="882522" y="53213"/>
                  </a:lnTo>
                  <a:cubicBezTo>
                    <a:pt x="882522" y="26670"/>
                    <a:pt x="861059" y="5080"/>
                    <a:pt x="834389" y="5080"/>
                  </a:cubicBezTo>
                  <a:lnTo>
                    <a:pt x="834389" y="2540"/>
                  </a:lnTo>
                  <a:lnTo>
                    <a:pt x="834389" y="5080"/>
                  </a:lnTo>
                  <a:moveTo>
                    <a:pt x="834389" y="0"/>
                  </a:moveTo>
                  <a:cubicBezTo>
                    <a:pt x="863726" y="0"/>
                    <a:pt x="887475" y="23749"/>
                    <a:pt x="887475" y="53086"/>
                  </a:cubicBezTo>
                  <a:lnTo>
                    <a:pt x="887475" y="632335"/>
                  </a:lnTo>
                  <a:cubicBezTo>
                    <a:pt x="887475" y="661672"/>
                    <a:pt x="863726" y="685421"/>
                    <a:pt x="834389" y="685421"/>
                  </a:cubicBezTo>
                  <a:lnTo>
                    <a:pt x="53086" y="685421"/>
                  </a:lnTo>
                  <a:cubicBezTo>
                    <a:pt x="23749" y="685421"/>
                    <a:pt x="0" y="661672"/>
                    <a:pt x="0" y="632335"/>
                  </a:cubicBezTo>
                  <a:lnTo>
                    <a:pt x="0" y="53213"/>
                  </a:lnTo>
                  <a:cubicBezTo>
                    <a:pt x="0" y="23876"/>
                    <a:pt x="23749" y="127"/>
                    <a:pt x="53086" y="127"/>
                  </a:cubicBezTo>
                  <a:lnTo>
                    <a:pt x="834389" y="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273803" y="220346"/>
              <a:ext cx="882649" cy="518161"/>
            </a:xfrm>
            <a:custGeom>
              <a:avLst/>
              <a:gdLst/>
              <a:ahLst/>
              <a:cxnLst/>
              <a:rect l="l" t="t" r="r" b="b"/>
              <a:pathLst>
                <a:path w="882649" h="518161">
                  <a:moveTo>
                    <a:pt x="831976" y="0"/>
                  </a:moveTo>
                  <a:lnTo>
                    <a:pt x="50673" y="0"/>
                  </a:lnTo>
                  <a:cubicBezTo>
                    <a:pt x="22733" y="0"/>
                    <a:pt x="0" y="22606"/>
                    <a:pt x="0" y="50673"/>
                  </a:cubicBezTo>
                  <a:lnTo>
                    <a:pt x="0" y="467488"/>
                  </a:lnTo>
                  <a:cubicBezTo>
                    <a:pt x="0" y="495428"/>
                    <a:pt x="22606" y="518161"/>
                    <a:pt x="50673" y="518161"/>
                  </a:cubicBezTo>
                  <a:lnTo>
                    <a:pt x="831976" y="518161"/>
                  </a:lnTo>
                  <a:cubicBezTo>
                    <a:pt x="859916" y="518161"/>
                    <a:pt x="882649" y="495555"/>
                    <a:pt x="882649" y="467488"/>
                  </a:cubicBezTo>
                  <a:lnTo>
                    <a:pt x="882649" y="50673"/>
                  </a:lnTo>
                  <a:cubicBezTo>
                    <a:pt x="882649" y="22733"/>
                    <a:pt x="860043" y="0"/>
                    <a:pt x="831976" y="0"/>
                  </a:cubicBez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271390" y="217806"/>
              <a:ext cx="887475" cy="523114"/>
            </a:xfrm>
            <a:custGeom>
              <a:avLst/>
              <a:gdLst/>
              <a:ahLst/>
              <a:cxnLst/>
              <a:rect l="l" t="t" r="r" b="b"/>
              <a:pathLst>
                <a:path w="887475" h="523114">
                  <a:moveTo>
                    <a:pt x="834389" y="5080"/>
                  </a:moveTo>
                  <a:lnTo>
                    <a:pt x="53086" y="5080"/>
                  </a:lnTo>
                  <a:lnTo>
                    <a:pt x="53086" y="2540"/>
                  </a:lnTo>
                  <a:lnTo>
                    <a:pt x="53086" y="5080"/>
                  </a:lnTo>
                  <a:cubicBezTo>
                    <a:pt x="26543" y="5080"/>
                    <a:pt x="4953" y="26543"/>
                    <a:pt x="4953" y="53213"/>
                  </a:cubicBezTo>
                  <a:lnTo>
                    <a:pt x="2413" y="53213"/>
                  </a:lnTo>
                  <a:lnTo>
                    <a:pt x="4953" y="53213"/>
                  </a:lnTo>
                  <a:lnTo>
                    <a:pt x="4953" y="470028"/>
                  </a:lnTo>
                  <a:lnTo>
                    <a:pt x="2413" y="470028"/>
                  </a:lnTo>
                  <a:lnTo>
                    <a:pt x="4953" y="470028"/>
                  </a:lnTo>
                  <a:cubicBezTo>
                    <a:pt x="4953" y="496571"/>
                    <a:pt x="26416" y="518161"/>
                    <a:pt x="53086" y="518161"/>
                  </a:cubicBezTo>
                  <a:lnTo>
                    <a:pt x="53086" y="520701"/>
                  </a:lnTo>
                  <a:lnTo>
                    <a:pt x="53086" y="518161"/>
                  </a:lnTo>
                  <a:lnTo>
                    <a:pt x="834389" y="518161"/>
                  </a:lnTo>
                  <a:lnTo>
                    <a:pt x="834389" y="520701"/>
                  </a:lnTo>
                  <a:lnTo>
                    <a:pt x="834389" y="518161"/>
                  </a:lnTo>
                  <a:cubicBezTo>
                    <a:pt x="860932" y="518161"/>
                    <a:pt x="882522" y="496698"/>
                    <a:pt x="882522" y="470028"/>
                  </a:cubicBezTo>
                  <a:lnTo>
                    <a:pt x="885062" y="470028"/>
                  </a:lnTo>
                  <a:lnTo>
                    <a:pt x="882522" y="470028"/>
                  </a:lnTo>
                  <a:lnTo>
                    <a:pt x="882522" y="53213"/>
                  </a:lnTo>
                  <a:lnTo>
                    <a:pt x="885062" y="53213"/>
                  </a:lnTo>
                  <a:lnTo>
                    <a:pt x="882522" y="53213"/>
                  </a:lnTo>
                  <a:cubicBezTo>
                    <a:pt x="882522" y="26670"/>
                    <a:pt x="861059" y="5080"/>
                    <a:pt x="834389" y="5080"/>
                  </a:cubicBezTo>
                  <a:lnTo>
                    <a:pt x="834389" y="2540"/>
                  </a:lnTo>
                  <a:lnTo>
                    <a:pt x="834389" y="5080"/>
                  </a:lnTo>
                  <a:moveTo>
                    <a:pt x="834389" y="0"/>
                  </a:moveTo>
                  <a:cubicBezTo>
                    <a:pt x="863726" y="0"/>
                    <a:pt x="887475" y="23749"/>
                    <a:pt x="887475" y="53086"/>
                  </a:cubicBezTo>
                  <a:lnTo>
                    <a:pt x="887475" y="470028"/>
                  </a:lnTo>
                  <a:cubicBezTo>
                    <a:pt x="887475" y="499365"/>
                    <a:pt x="863726" y="523114"/>
                    <a:pt x="834389" y="523114"/>
                  </a:cubicBezTo>
                  <a:lnTo>
                    <a:pt x="53086" y="523114"/>
                  </a:lnTo>
                  <a:cubicBezTo>
                    <a:pt x="23749" y="523114"/>
                    <a:pt x="0" y="499365"/>
                    <a:pt x="0" y="470028"/>
                  </a:cubicBezTo>
                  <a:lnTo>
                    <a:pt x="0" y="53213"/>
                  </a:lnTo>
                  <a:cubicBezTo>
                    <a:pt x="0" y="23876"/>
                    <a:pt x="23749" y="127"/>
                    <a:pt x="53086" y="127"/>
                  </a:cubicBezTo>
                  <a:lnTo>
                    <a:pt x="834389" y="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343904" y="68453"/>
              <a:ext cx="882649" cy="821946"/>
            </a:xfrm>
            <a:custGeom>
              <a:avLst/>
              <a:gdLst/>
              <a:ahLst/>
              <a:cxnLst/>
              <a:rect l="l" t="t" r="r" b="b"/>
              <a:pathLst>
                <a:path w="882649" h="821946">
                  <a:moveTo>
                    <a:pt x="832103" y="127"/>
                  </a:moveTo>
                  <a:lnTo>
                    <a:pt x="50673" y="127"/>
                  </a:lnTo>
                  <a:cubicBezTo>
                    <a:pt x="22733" y="127"/>
                    <a:pt x="0" y="22733"/>
                    <a:pt x="0" y="50800"/>
                  </a:cubicBezTo>
                  <a:lnTo>
                    <a:pt x="0" y="771273"/>
                  </a:lnTo>
                  <a:cubicBezTo>
                    <a:pt x="0" y="799213"/>
                    <a:pt x="22606" y="821946"/>
                    <a:pt x="50673" y="821946"/>
                  </a:cubicBezTo>
                  <a:lnTo>
                    <a:pt x="831976" y="821946"/>
                  </a:lnTo>
                  <a:cubicBezTo>
                    <a:pt x="859916" y="821946"/>
                    <a:pt x="882649" y="799340"/>
                    <a:pt x="882649" y="771273"/>
                  </a:cubicBezTo>
                  <a:lnTo>
                    <a:pt x="882649" y="50673"/>
                  </a:lnTo>
                  <a:cubicBezTo>
                    <a:pt x="882649" y="22733"/>
                    <a:pt x="860043" y="0"/>
                    <a:pt x="831976" y="0"/>
                  </a:cubicBezTo>
                  <a:close/>
                </a:path>
              </a:pathLst>
            </a:custGeom>
            <a:solidFill>
              <a:srgbClr val="FF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338951" y="63500"/>
              <a:ext cx="892555" cy="831852"/>
            </a:xfrm>
            <a:custGeom>
              <a:avLst/>
              <a:gdLst/>
              <a:ahLst/>
              <a:cxnLst/>
              <a:rect l="l" t="t" r="r" b="b"/>
              <a:pathLst>
                <a:path w="892555" h="831852">
                  <a:moveTo>
                    <a:pt x="837056" y="10160"/>
                  </a:moveTo>
                  <a:lnTo>
                    <a:pt x="55626" y="10160"/>
                  </a:lnTo>
                  <a:lnTo>
                    <a:pt x="55626" y="5080"/>
                  </a:lnTo>
                  <a:lnTo>
                    <a:pt x="55626" y="10160"/>
                  </a:lnTo>
                  <a:cubicBezTo>
                    <a:pt x="30480" y="10160"/>
                    <a:pt x="10033" y="30607"/>
                    <a:pt x="10033" y="55753"/>
                  </a:cubicBezTo>
                  <a:lnTo>
                    <a:pt x="4953" y="55753"/>
                  </a:lnTo>
                  <a:lnTo>
                    <a:pt x="10033" y="55753"/>
                  </a:lnTo>
                  <a:lnTo>
                    <a:pt x="10033" y="776226"/>
                  </a:lnTo>
                  <a:lnTo>
                    <a:pt x="4953" y="776226"/>
                  </a:lnTo>
                  <a:lnTo>
                    <a:pt x="10033" y="776226"/>
                  </a:lnTo>
                  <a:cubicBezTo>
                    <a:pt x="10033" y="801372"/>
                    <a:pt x="30480" y="821819"/>
                    <a:pt x="55626" y="821819"/>
                  </a:cubicBezTo>
                  <a:lnTo>
                    <a:pt x="55626" y="826899"/>
                  </a:lnTo>
                  <a:lnTo>
                    <a:pt x="55626" y="821819"/>
                  </a:lnTo>
                  <a:lnTo>
                    <a:pt x="836929" y="821819"/>
                  </a:lnTo>
                  <a:lnTo>
                    <a:pt x="836929" y="826899"/>
                  </a:lnTo>
                  <a:lnTo>
                    <a:pt x="836929" y="821819"/>
                  </a:lnTo>
                  <a:cubicBezTo>
                    <a:pt x="862075" y="821819"/>
                    <a:pt x="882523" y="801372"/>
                    <a:pt x="882523" y="776226"/>
                  </a:cubicBezTo>
                  <a:lnTo>
                    <a:pt x="887602" y="776226"/>
                  </a:lnTo>
                  <a:lnTo>
                    <a:pt x="882523" y="776226"/>
                  </a:lnTo>
                  <a:lnTo>
                    <a:pt x="882523" y="55626"/>
                  </a:lnTo>
                  <a:lnTo>
                    <a:pt x="887602" y="55626"/>
                  </a:lnTo>
                  <a:lnTo>
                    <a:pt x="882523" y="55626"/>
                  </a:lnTo>
                  <a:cubicBezTo>
                    <a:pt x="882523" y="30480"/>
                    <a:pt x="862075" y="10033"/>
                    <a:pt x="836929" y="10033"/>
                  </a:cubicBezTo>
                  <a:lnTo>
                    <a:pt x="836929" y="5080"/>
                  </a:lnTo>
                  <a:lnTo>
                    <a:pt x="836929" y="10160"/>
                  </a:lnTo>
                  <a:moveTo>
                    <a:pt x="836929" y="0"/>
                  </a:moveTo>
                  <a:cubicBezTo>
                    <a:pt x="867663" y="0"/>
                    <a:pt x="892555" y="24892"/>
                    <a:pt x="892555" y="55626"/>
                  </a:cubicBezTo>
                  <a:lnTo>
                    <a:pt x="892555" y="776226"/>
                  </a:lnTo>
                  <a:cubicBezTo>
                    <a:pt x="892555" y="806960"/>
                    <a:pt x="867663" y="831852"/>
                    <a:pt x="836929" y="831852"/>
                  </a:cubicBezTo>
                  <a:lnTo>
                    <a:pt x="55626" y="831852"/>
                  </a:lnTo>
                  <a:cubicBezTo>
                    <a:pt x="24892" y="831852"/>
                    <a:pt x="0" y="806960"/>
                    <a:pt x="0" y="776226"/>
                  </a:cubicBezTo>
                  <a:lnTo>
                    <a:pt x="0" y="55626"/>
                  </a:lnTo>
                  <a:cubicBezTo>
                    <a:pt x="0" y="24892"/>
                    <a:pt x="24892" y="0"/>
                    <a:pt x="55626" y="0"/>
                  </a:cubicBezTo>
                  <a:lnTo>
                    <a:pt x="836929" y="0"/>
                  </a:lnTo>
                  <a:close/>
                </a:path>
              </a:pathLst>
            </a:custGeom>
            <a:solidFill>
              <a:srgbClr val="BE1E2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343904" y="1260351"/>
              <a:ext cx="882649" cy="542799"/>
            </a:xfrm>
            <a:custGeom>
              <a:avLst/>
              <a:gdLst/>
              <a:ahLst/>
              <a:cxnLst/>
              <a:rect l="l" t="t" r="r" b="b"/>
              <a:pathLst>
                <a:path w="882649" h="542799">
                  <a:moveTo>
                    <a:pt x="832103" y="0"/>
                  </a:moveTo>
                  <a:lnTo>
                    <a:pt x="50673" y="0"/>
                  </a:lnTo>
                  <a:cubicBezTo>
                    <a:pt x="22733" y="0"/>
                    <a:pt x="0" y="22606"/>
                    <a:pt x="0" y="50673"/>
                  </a:cubicBezTo>
                  <a:lnTo>
                    <a:pt x="0" y="492126"/>
                  </a:lnTo>
                  <a:cubicBezTo>
                    <a:pt x="0" y="520066"/>
                    <a:pt x="22606" y="542799"/>
                    <a:pt x="50673" y="542799"/>
                  </a:cubicBezTo>
                  <a:lnTo>
                    <a:pt x="831976" y="542799"/>
                  </a:lnTo>
                  <a:cubicBezTo>
                    <a:pt x="859916" y="542799"/>
                    <a:pt x="882649" y="520193"/>
                    <a:pt x="882649" y="492126"/>
                  </a:cubicBezTo>
                  <a:lnTo>
                    <a:pt x="882649" y="50673"/>
                  </a:lnTo>
                  <a:cubicBezTo>
                    <a:pt x="882649" y="22733"/>
                    <a:pt x="860043" y="0"/>
                    <a:pt x="831976" y="0"/>
                  </a:cubicBezTo>
                  <a:close/>
                </a:path>
              </a:pathLst>
            </a:custGeom>
            <a:solidFill>
              <a:srgbClr val="E6FF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338951" y="1255271"/>
              <a:ext cx="892555" cy="552705"/>
            </a:xfrm>
            <a:custGeom>
              <a:avLst/>
              <a:gdLst/>
              <a:ahLst/>
              <a:cxnLst/>
              <a:rect l="l" t="t" r="r" b="b"/>
              <a:pathLst>
                <a:path w="892555" h="552705">
                  <a:moveTo>
                    <a:pt x="837056" y="10160"/>
                  </a:moveTo>
                  <a:lnTo>
                    <a:pt x="55626" y="10160"/>
                  </a:lnTo>
                  <a:lnTo>
                    <a:pt x="55626" y="5080"/>
                  </a:lnTo>
                  <a:lnTo>
                    <a:pt x="55626" y="10160"/>
                  </a:lnTo>
                  <a:cubicBezTo>
                    <a:pt x="30480" y="10160"/>
                    <a:pt x="10033" y="30607"/>
                    <a:pt x="10033" y="55753"/>
                  </a:cubicBezTo>
                  <a:lnTo>
                    <a:pt x="4953" y="55753"/>
                  </a:lnTo>
                  <a:lnTo>
                    <a:pt x="10033" y="55753"/>
                  </a:lnTo>
                  <a:lnTo>
                    <a:pt x="10033" y="497206"/>
                  </a:lnTo>
                  <a:lnTo>
                    <a:pt x="4953" y="497206"/>
                  </a:lnTo>
                  <a:lnTo>
                    <a:pt x="10033" y="497206"/>
                  </a:lnTo>
                  <a:cubicBezTo>
                    <a:pt x="10033" y="522352"/>
                    <a:pt x="30480" y="542799"/>
                    <a:pt x="55626" y="542799"/>
                  </a:cubicBezTo>
                  <a:lnTo>
                    <a:pt x="55626" y="547879"/>
                  </a:lnTo>
                  <a:lnTo>
                    <a:pt x="55626" y="542799"/>
                  </a:lnTo>
                  <a:lnTo>
                    <a:pt x="836929" y="542799"/>
                  </a:lnTo>
                  <a:lnTo>
                    <a:pt x="836929" y="547879"/>
                  </a:lnTo>
                  <a:lnTo>
                    <a:pt x="836929" y="542799"/>
                  </a:lnTo>
                  <a:cubicBezTo>
                    <a:pt x="862075" y="542799"/>
                    <a:pt x="882523" y="522352"/>
                    <a:pt x="882523" y="497206"/>
                  </a:cubicBezTo>
                  <a:lnTo>
                    <a:pt x="887602" y="497206"/>
                  </a:lnTo>
                  <a:lnTo>
                    <a:pt x="882523" y="497206"/>
                  </a:lnTo>
                  <a:lnTo>
                    <a:pt x="882523" y="55753"/>
                  </a:lnTo>
                  <a:lnTo>
                    <a:pt x="887602" y="55753"/>
                  </a:lnTo>
                  <a:lnTo>
                    <a:pt x="882523" y="55753"/>
                  </a:lnTo>
                  <a:cubicBezTo>
                    <a:pt x="882523" y="30607"/>
                    <a:pt x="862075" y="10160"/>
                    <a:pt x="836929" y="10160"/>
                  </a:cubicBezTo>
                  <a:lnTo>
                    <a:pt x="836929" y="5080"/>
                  </a:lnTo>
                  <a:lnTo>
                    <a:pt x="836929" y="10160"/>
                  </a:lnTo>
                  <a:moveTo>
                    <a:pt x="836929" y="0"/>
                  </a:moveTo>
                  <a:cubicBezTo>
                    <a:pt x="867663" y="0"/>
                    <a:pt x="892555" y="24892"/>
                    <a:pt x="892555" y="55626"/>
                  </a:cubicBezTo>
                  <a:lnTo>
                    <a:pt x="892555" y="497079"/>
                  </a:lnTo>
                  <a:cubicBezTo>
                    <a:pt x="892555" y="527813"/>
                    <a:pt x="867663" y="552705"/>
                    <a:pt x="836929" y="552705"/>
                  </a:cubicBezTo>
                  <a:lnTo>
                    <a:pt x="55626" y="552705"/>
                  </a:lnTo>
                  <a:cubicBezTo>
                    <a:pt x="24892" y="552705"/>
                    <a:pt x="0" y="527813"/>
                    <a:pt x="0" y="497079"/>
                  </a:cubicBezTo>
                  <a:lnTo>
                    <a:pt x="0" y="55753"/>
                  </a:lnTo>
                  <a:cubicBezTo>
                    <a:pt x="0" y="25019"/>
                    <a:pt x="24892" y="127"/>
                    <a:pt x="55626" y="127"/>
                  </a:cubicBezTo>
                  <a:lnTo>
                    <a:pt x="836929" y="127"/>
                  </a:lnTo>
                  <a:close/>
                </a:path>
              </a:pathLst>
            </a:custGeom>
            <a:solidFill>
              <a:srgbClr val="00825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1102" y="474346"/>
              <a:ext cx="101600" cy="10160"/>
            </a:xfrm>
            <a:custGeom>
              <a:avLst/>
              <a:gdLst/>
              <a:ahLst/>
              <a:cxnLst/>
              <a:rect l="l" t="t" r="r" b="b"/>
              <a:pathLst>
                <a:path w="101600" h="10160">
                  <a:moveTo>
                    <a:pt x="0" y="0"/>
                  </a:moveTo>
                  <a:lnTo>
                    <a:pt x="101600" y="0"/>
                  </a:lnTo>
                  <a:lnTo>
                    <a:pt x="1016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52702" y="456947"/>
              <a:ext cx="57531" cy="44958"/>
            </a:xfrm>
            <a:custGeom>
              <a:avLst/>
              <a:gdLst/>
              <a:ahLst/>
              <a:cxnLst/>
              <a:rect l="l" t="t" r="r" b="b"/>
              <a:pathLst>
                <a:path w="57531" h="44958">
                  <a:moveTo>
                    <a:pt x="57531" y="22479"/>
                  </a:moveTo>
                  <a:cubicBezTo>
                    <a:pt x="50419" y="20701"/>
                    <a:pt x="19431" y="10795"/>
                    <a:pt x="0" y="0"/>
                  </a:cubicBezTo>
                  <a:lnTo>
                    <a:pt x="0" y="44958"/>
                  </a:lnTo>
                  <a:cubicBezTo>
                    <a:pt x="19431" y="34163"/>
                    <a:pt x="50546" y="24257"/>
                    <a:pt x="57531" y="22479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47495" y="448438"/>
              <a:ext cx="83693" cy="62230"/>
            </a:xfrm>
            <a:custGeom>
              <a:avLst/>
              <a:gdLst/>
              <a:ahLst/>
              <a:cxnLst/>
              <a:rect l="l" t="t" r="r" b="b"/>
              <a:pathLst>
                <a:path w="83693" h="62230">
                  <a:moveTo>
                    <a:pt x="61468" y="35941"/>
                  </a:moveTo>
                  <a:cubicBezTo>
                    <a:pt x="54102" y="34163"/>
                    <a:pt x="22606" y="24003"/>
                    <a:pt x="2667" y="12954"/>
                  </a:cubicBezTo>
                  <a:lnTo>
                    <a:pt x="5080" y="8509"/>
                  </a:lnTo>
                  <a:lnTo>
                    <a:pt x="10160" y="8509"/>
                  </a:lnTo>
                  <a:lnTo>
                    <a:pt x="10160" y="53467"/>
                  </a:lnTo>
                  <a:lnTo>
                    <a:pt x="5080" y="53467"/>
                  </a:lnTo>
                  <a:lnTo>
                    <a:pt x="2667" y="49022"/>
                  </a:lnTo>
                  <a:cubicBezTo>
                    <a:pt x="22606" y="37973"/>
                    <a:pt x="54102" y="27813"/>
                    <a:pt x="61468" y="26035"/>
                  </a:cubicBezTo>
                  <a:lnTo>
                    <a:pt x="62738" y="30988"/>
                  </a:lnTo>
                  <a:lnTo>
                    <a:pt x="61468" y="35941"/>
                  </a:lnTo>
                  <a:moveTo>
                    <a:pt x="63881" y="26162"/>
                  </a:moveTo>
                  <a:lnTo>
                    <a:pt x="83693" y="31115"/>
                  </a:lnTo>
                  <a:lnTo>
                    <a:pt x="63881" y="36068"/>
                  </a:lnTo>
                  <a:cubicBezTo>
                    <a:pt x="57023" y="37719"/>
                    <a:pt x="26416" y="47498"/>
                    <a:pt x="7493" y="58039"/>
                  </a:cubicBezTo>
                  <a:lnTo>
                    <a:pt x="0" y="62230"/>
                  </a:lnTo>
                  <a:lnTo>
                    <a:pt x="0" y="53594"/>
                  </a:lnTo>
                  <a:lnTo>
                    <a:pt x="0" y="8636"/>
                  </a:lnTo>
                  <a:lnTo>
                    <a:pt x="0" y="0"/>
                  </a:lnTo>
                  <a:lnTo>
                    <a:pt x="7493" y="4191"/>
                  </a:lnTo>
                  <a:cubicBezTo>
                    <a:pt x="26416" y="14732"/>
                    <a:pt x="57023" y="24511"/>
                    <a:pt x="63881" y="26162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023743" y="474346"/>
              <a:ext cx="101600" cy="10160"/>
            </a:xfrm>
            <a:custGeom>
              <a:avLst/>
              <a:gdLst/>
              <a:ahLst/>
              <a:cxnLst/>
              <a:rect l="l" t="t" r="r" b="b"/>
              <a:pathLst>
                <a:path w="101600" h="10160">
                  <a:moveTo>
                    <a:pt x="0" y="0"/>
                  </a:moveTo>
                  <a:lnTo>
                    <a:pt x="101600" y="0"/>
                  </a:lnTo>
                  <a:lnTo>
                    <a:pt x="1016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125343" y="456947"/>
              <a:ext cx="57531" cy="44958"/>
            </a:xfrm>
            <a:custGeom>
              <a:avLst/>
              <a:gdLst/>
              <a:ahLst/>
              <a:cxnLst/>
              <a:rect l="l" t="t" r="r" b="b"/>
              <a:pathLst>
                <a:path w="57531" h="44958">
                  <a:moveTo>
                    <a:pt x="57531" y="22479"/>
                  </a:moveTo>
                  <a:cubicBezTo>
                    <a:pt x="50419" y="20701"/>
                    <a:pt x="19431" y="10795"/>
                    <a:pt x="0" y="0"/>
                  </a:cubicBezTo>
                  <a:lnTo>
                    <a:pt x="0" y="44958"/>
                  </a:lnTo>
                  <a:cubicBezTo>
                    <a:pt x="19431" y="34163"/>
                    <a:pt x="50546" y="24257"/>
                    <a:pt x="57531" y="22479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120263" y="448438"/>
              <a:ext cx="83693" cy="62230"/>
            </a:xfrm>
            <a:custGeom>
              <a:avLst/>
              <a:gdLst/>
              <a:ahLst/>
              <a:cxnLst/>
              <a:rect l="l" t="t" r="r" b="b"/>
              <a:pathLst>
                <a:path w="83693" h="62230">
                  <a:moveTo>
                    <a:pt x="61468" y="35941"/>
                  </a:moveTo>
                  <a:cubicBezTo>
                    <a:pt x="54102" y="34163"/>
                    <a:pt x="22606" y="24003"/>
                    <a:pt x="2667" y="12954"/>
                  </a:cubicBezTo>
                  <a:lnTo>
                    <a:pt x="5080" y="8509"/>
                  </a:lnTo>
                  <a:lnTo>
                    <a:pt x="10160" y="8509"/>
                  </a:lnTo>
                  <a:lnTo>
                    <a:pt x="10160" y="53467"/>
                  </a:lnTo>
                  <a:lnTo>
                    <a:pt x="5080" y="53467"/>
                  </a:lnTo>
                  <a:lnTo>
                    <a:pt x="2667" y="49022"/>
                  </a:lnTo>
                  <a:cubicBezTo>
                    <a:pt x="22606" y="37973"/>
                    <a:pt x="54102" y="27813"/>
                    <a:pt x="61468" y="26035"/>
                  </a:cubicBezTo>
                  <a:lnTo>
                    <a:pt x="62738" y="30988"/>
                  </a:lnTo>
                  <a:lnTo>
                    <a:pt x="61468" y="35941"/>
                  </a:lnTo>
                  <a:moveTo>
                    <a:pt x="63881" y="26162"/>
                  </a:moveTo>
                  <a:lnTo>
                    <a:pt x="83693" y="31115"/>
                  </a:lnTo>
                  <a:lnTo>
                    <a:pt x="63881" y="36068"/>
                  </a:lnTo>
                  <a:cubicBezTo>
                    <a:pt x="57023" y="37719"/>
                    <a:pt x="26416" y="47498"/>
                    <a:pt x="7493" y="58039"/>
                  </a:cubicBezTo>
                  <a:lnTo>
                    <a:pt x="0" y="62230"/>
                  </a:lnTo>
                  <a:lnTo>
                    <a:pt x="0" y="53594"/>
                  </a:lnTo>
                  <a:lnTo>
                    <a:pt x="0" y="8636"/>
                  </a:lnTo>
                  <a:lnTo>
                    <a:pt x="0" y="0"/>
                  </a:lnTo>
                  <a:lnTo>
                    <a:pt x="7493" y="4191"/>
                  </a:lnTo>
                  <a:cubicBezTo>
                    <a:pt x="26416" y="14732"/>
                    <a:pt x="57023" y="24511"/>
                    <a:pt x="63881" y="26162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091304" y="474346"/>
              <a:ext cx="101600" cy="10160"/>
            </a:xfrm>
            <a:custGeom>
              <a:avLst/>
              <a:gdLst/>
              <a:ahLst/>
              <a:cxnLst/>
              <a:rect l="l" t="t" r="r" b="b"/>
              <a:pathLst>
                <a:path w="101600" h="10160">
                  <a:moveTo>
                    <a:pt x="0" y="0"/>
                  </a:moveTo>
                  <a:lnTo>
                    <a:pt x="101600" y="0"/>
                  </a:lnTo>
                  <a:lnTo>
                    <a:pt x="1016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192904" y="456947"/>
              <a:ext cx="57531" cy="44958"/>
            </a:xfrm>
            <a:custGeom>
              <a:avLst/>
              <a:gdLst/>
              <a:ahLst/>
              <a:cxnLst/>
              <a:rect l="l" t="t" r="r" b="b"/>
              <a:pathLst>
                <a:path w="57531" h="44958">
                  <a:moveTo>
                    <a:pt x="57531" y="22479"/>
                  </a:moveTo>
                  <a:cubicBezTo>
                    <a:pt x="50419" y="20701"/>
                    <a:pt x="19431" y="10795"/>
                    <a:pt x="0" y="0"/>
                  </a:cubicBezTo>
                  <a:lnTo>
                    <a:pt x="0" y="44958"/>
                  </a:lnTo>
                  <a:cubicBezTo>
                    <a:pt x="19431" y="34163"/>
                    <a:pt x="50546" y="24257"/>
                    <a:pt x="57531" y="22479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3187824" y="448438"/>
              <a:ext cx="83693" cy="62230"/>
            </a:xfrm>
            <a:custGeom>
              <a:avLst/>
              <a:gdLst/>
              <a:ahLst/>
              <a:cxnLst/>
              <a:rect l="l" t="t" r="r" b="b"/>
              <a:pathLst>
                <a:path w="83693" h="62230">
                  <a:moveTo>
                    <a:pt x="61468" y="35941"/>
                  </a:moveTo>
                  <a:cubicBezTo>
                    <a:pt x="54102" y="34163"/>
                    <a:pt x="22606" y="24003"/>
                    <a:pt x="2667" y="12954"/>
                  </a:cubicBezTo>
                  <a:lnTo>
                    <a:pt x="5080" y="8509"/>
                  </a:lnTo>
                  <a:lnTo>
                    <a:pt x="10160" y="8509"/>
                  </a:lnTo>
                  <a:lnTo>
                    <a:pt x="10160" y="53467"/>
                  </a:lnTo>
                  <a:lnTo>
                    <a:pt x="5080" y="53467"/>
                  </a:lnTo>
                  <a:lnTo>
                    <a:pt x="2667" y="49022"/>
                  </a:lnTo>
                  <a:cubicBezTo>
                    <a:pt x="22606" y="37973"/>
                    <a:pt x="54102" y="27813"/>
                    <a:pt x="61468" y="26035"/>
                  </a:cubicBezTo>
                  <a:lnTo>
                    <a:pt x="62738" y="30988"/>
                  </a:lnTo>
                  <a:lnTo>
                    <a:pt x="61468" y="35941"/>
                  </a:lnTo>
                  <a:moveTo>
                    <a:pt x="63881" y="26162"/>
                  </a:moveTo>
                  <a:lnTo>
                    <a:pt x="83693" y="31115"/>
                  </a:lnTo>
                  <a:lnTo>
                    <a:pt x="63881" y="36068"/>
                  </a:lnTo>
                  <a:cubicBezTo>
                    <a:pt x="57023" y="37719"/>
                    <a:pt x="26416" y="47498"/>
                    <a:pt x="7493" y="58039"/>
                  </a:cubicBezTo>
                  <a:lnTo>
                    <a:pt x="0" y="62230"/>
                  </a:lnTo>
                  <a:lnTo>
                    <a:pt x="0" y="53594"/>
                  </a:lnTo>
                  <a:lnTo>
                    <a:pt x="0" y="8636"/>
                  </a:lnTo>
                  <a:lnTo>
                    <a:pt x="0" y="0"/>
                  </a:lnTo>
                  <a:lnTo>
                    <a:pt x="7493" y="4191"/>
                  </a:lnTo>
                  <a:cubicBezTo>
                    <a:pt x="26416" y="14732"/>
                    <a:pt x="57023" y="24511"/>
                    <a:pt x="63881" y="26162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158992" y="474346"/>
              <a:ext cx="101600" cy="10160"/>
            </a:xfrm>
            <a:custGeom>
              <a:avLst/>
              <a:gdLst/>
              <a:ahLst/>
              <a:cxnLst/>
              <a:rect l="l" t="t" r="r" b="b"/>
              <a:pathLst>
                <a:path w="101600" h="10160">
                  <a:moveTo>
                    <a:pt x="0" y="0"/>
                  </a:moveTo>
                  <a:lnTo>
                    <a:pt x="101600" y="0"/>
                  </a:lnTo>
                  <a:lnTo>
                    <a:pt x="1016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260592" y="456947"/>
              <a:ext cx="57531" cy="44958"/>
            </a:xfrm>
            <a:custGeom>
              <a:avLst/>
              <a:gdLst/>
              <a:ahLst/>
              <a:cxnLst/>
              <a:rect l="l" t="t" r="r" b="b"/>
              <a:pathLst>
                <a:path w="57531" h="44958">
                  <a:moveTo>
                    <a:pt x="57531" y="22479"/>
                  </a:moveTo>
                  <a:cubicBezTo>
                    <a:pt x="50419" y="20701"/>
                    <a:pt x="19431" y="10795"/>
                    <a:pt x="0" y="0"/>
                  </a:cubicBezTo>
                  <a:lnTo>
                    <a:pt x="0" y="44958"/>
                  </a:lnTo>
                  <a:cubicBezTo>
                    <a:pt x="19431" y="34163"/>
                    <a:pt x="50546" y="24257"/>
                    <a:pt x="57531" y="22479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255385" y="448438"/>
              <a:ext cx="83693" cy="62230"/>
            </a:xfrm>
            <a:custGeom>
              <a:avLst/>
              <a:gdLst/>
              <a:ahLst/>
              <a:cxnLst/>
              <a:rect l="l" t="t" r="r" b="b"/>
              <a:pathLst>
                <a:path w="83693" h="62230">
                  <a:moveTo>
                    <a:pt x="61468" y="35941"/>
                  </a:moveTo>
                  <a:cubicBezTo>
                    <a:pt x="54102" y="34163"/>
                    <a:pt x="22606" y="24003"/>
                    <a:pt x="2667" y="12954"/>
                  </a:cubicBezTo>
                  <a:lnTo>
                    <a:pt x="5080" y="8509"/>
                  </a:lnTo>
                  <a:lnTo>
                    <a:pt x="10160" y="8509"/>
                  </a:lnTo>
                  <a:lnTo>
                    <a:pt x="10160" y="53467"/>
                  </a:lnTo>
                  <a:lnTo>
                    <a:pt x="5080" y="53467"/>
                  </a:lnTo>
                  <a:lnTo>
                    <a:pt x="2667" y="49022"/>
                  </a:lnTo>
                  <a:cubicBezTo>
                    <a:pt x="22606" y="37973"/>
                    <a:pt x="54102" y="27813"/>
                    <a:pt x="61468" y="26035"/>
                  </a:cubicBezTo>
                  <a:lnTo>
                    <a:pt x="62738" y="30988"/>
                  </a:lnTo>
                  <a:lnTo>
                    <a:pt x="61468" y="35941"/>
                  </a:lnTo>
                  <a:moveTo>
                    <a:pt x="63881" y="26162"/>
                  </a:moveTo>
                  <a:lnTo>
                    <a:pt x="83693" y="31115"/>
                  </a:lnTo>
                  <a:lnTo>
                    <a:pt x="63881" y="36068"/>
                  </a:lnTo>
                  <a:cubicBezTo>
                    <a:pt x="57023" y="37719"/>
                    <a:pt x="26416" y="47498"/>
                    <a:pt x="7493" y="58039"/>
                  </a:cubicBezTo>
                  <a:lnTo>
                    <a:pt x="0" y="62230"/>
                  </a:lnTo>
                  <a:lnTo>
                    <a:pt x="0" y="53594"/>
                  </a:lnTo>
                  <a:lnTo>
                    <a:pt x="0" y="8636"/>
                  </a:lnTo>
                  <a:lnTo>
                    <a:pt x="0" y="0"/>
                  </a:lnTo>
                  <a:lnTo>
                    <a:pt x="7493" y="4191"/>
                  </a:lnTo>
                  <a:cubicBezTo>
                    <a:pt x="26416" y="14732"/>
                    <a:pt x="57023" y="24511"/>
                    <a:pt x="63881" y="26162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780149" y="895352"/>
              <a:ext cx="10160" cy="281560"/>
            </a:xfrm>
            <a:custGeom>
              <a:avLst/>
              <a:gdLst/>
              <a:ahLst/>
              <a:cxnLst/>
              <a:rect l="l" t="t" r="r" b="b"/>
              <a:pathLst>
                <a:path w="10160" h="281560">
                  <a:moveTo>
                    <a:pt x="10160" y="0"/>
                  </a:moveTo>
                  <a:lnTo>
                    <a:pt x="10160" y="281560"/>
                  </a:lnTo>
                  <a:lnTo>
                    <a:pt x="0" y="281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762877" y="1176912"/>
              <a:ext cx="44958" cy="57531"/>
            </a:xfrm>
            <a:custGeom>
              <a:avLst/>
              <a:gdLst/>
              <a:ahLst/>
              <a:cxnLst/>
              <a:rect l="l" t="t" r="r" b="b"/>
              <a:pathLst>
                <a:path w="44958" h="57531">
                  <a:moveTo>
                    <a:pt x="22479" y="57531"/>
                  </a:moveTo>
                  <a:cubicBezTo>
                    <a:pt x="24257" y="50419"/>
                    <a:pt x="34163" y="19431"/>
                    <a:pt x="44957" y="0"/>
                  </a:cubicBezTo>
                  <a:lnTo>
                    <a:pt x="0" y="0"/>
                  </a:lnTo>
                  <a:cubicBezTo>
                    <a:pt x="10794" y="19431"/>
                    <a:pt x="20700" y="50546"/>
                    <a:pt x="22479" y="57531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4754114" y="1171832"/>
              <a:ext cx="62230" cy="83693"/>
            </a:xfrm>
            <a:custGeom>
              <a:avLst/>
              <a:gdLst/>
              <a:ahLst/>
              <a:cxnLst/>
              <a:rect l="l" t="t" r="r" b="b"/>
              <a:pathLst>
                <a:path w="62230" h="83693">
                  <a:moveTo>
                    <a:pt x="26289" y="61468"/>
                  </a:moveTo>
                  <a:cubicBezTo>
                    <a:pt x="28067" y="54102"/>
                    <a:pt x="38227" y="22606"/>
                    <a:pt x="49276" y="2667"/>
                  </a:cubicBezTo>
                  <a:lnTo>
                    <a:pt x="53721" y="5080"/>
                  </a:lnTo>
                  <a:lnTo>
                    <a:pt x="53721" y="10160"/>
                  </a:lnTo>
                  <a:lnTo>
                    <a:pt x="8763" y="10160"/>
                  </a:lnTo>
                  <a:lnTo>
                    <a:pt x="8763" y="5080"/>
                  </a:lnTo>
                  <a:lnTo>
                    <a:pt x="13208" y="2667"/>
                  </a:lnTo>
                  <a:cubicBezTo>
                    <a:pt x="24257" y="22606"/>
                    <a:pt x="34417" y="54102"/>
                    <a:pt x="36195" y="61468"/>
                  </a:cubicBezTo>
                  <a:lnTo>
                    <a:pt x="31242" y="62738"/>
                  </a:lnTo>
                  <a:lnTo>
                    <a:pt x="26289" y="61468"/>
                  </a:lnTo>
                  <a:moveTo>
                    <a:pt x="36068" y="63881"/>
                  </a:moveTo>
                  <a:lnTo>
                    <a:pt x="31115" y="83693"/>
                  </a:lnTo>
                  <a:lnTo>
                    <a:pt x="26162" y="63881"/>
                  </a:lnTo>
                  <a:cubicBezTo>
                    <a:pt x="24511" y="57023"/>
                    <a:pt x="14732" y="26416"/>
                    <a:pt x="4191" y="7493"/>
                  </a:cubicBezTo>
                  <a:lnTo>
                    <a:pt x="0" y="0"/>
                  </a:lnTo>
                  <a:lnTo>
                    <a:pt x="8636" y="0"/>
                  </a:lnTo>
                  <a:lnTo>
                    <a:pt x="53594" y="0"/>
                  </a:lnTo>
                  <a:lnTo>
                    <a:pt x="62230" y="0"/>
                  </a:lnTo>
                  <a:lnTo>
                    <a:pt x="58039" y="7493"/>
                  </a:lnTo>
                  <a:cubicBezTo>
                    <a:pt x="47498" y="26416"/>
                    <a:pt x="37719" y="57023"/>
                    <a:pt x="36068" y="63881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4260592" y="456947"/>
              <a:ext cx="57531" cy="44958"/>
            </a:xfrm>
            <a:custGeom>
              <a:avLst/>
              <a:gdLst/>
              <a:ahLst/>
              <a:cxnLst/>
              <a:rect l="l" t="t" r="r" b="b"/>
              <a:pathLst>
                <a:path w="57531" h="44958">
                  <a:moveTo>
                    <a:pt x="57531" y="22479"/>
                  </a:moveTo>
                  <a:cubicBezTo>
                    <a:pt x="50419" y="20701"/>
                    <a:pt x="19431" y="10795"/>
                    <a:pt x="0" y="0"/>
                  </a:cubicBezTo>
                  <a:lnTo>
                    <a:pt x="0" y="44958"/>
                  </a:lnTo>
                  <a:cubicBezTo>
                    <a:pt x="19431" y="34163"/>
                    <a:pt x="50546" y="24257"/>
                    <a:pt x="57531" y="22479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4255385" y="448438"/>
              <a:ext cx="83693" cy="62230"/>
            </a:xfrm>
            <a:custGeom>
              <a:avLst/>
              <a:gdLst/>
              <a:ahLst/>
              <a:cxnLst/>
              <a:rect l="l" t="t" r="r" b="b"/>
              <a:pathLst>
                <a:path w="83693" h="62230">
                  <a:moveTo>
                    <a:pt x="61468" y="35941"/>
                  </a:moveTo>
                  <a:cubicBezTo>
                    <a:pt x="54102" y="34163"/>
                    <a:pt x="22606" y="24003"/>
                    <a:pt x="2667" y="12954"/>
                  </a:cubicBezTo>
                  <a:lnTo>
                    <a:pt x="5080" y="8509"/>
                  </a:lnTo>
                  <a:lnTo>
                    <a:pt x="10160" y="8509"/>
                  </a:lnTo>
                  <a:lnTo>
                    <a:pt x="10160" y="53467"/>
                  </a:lnTo>
                  <a:lnTo>
                    <a:pt x="5080" y="53467"/>
                  </a:lnTo>
                  <a:lnTo>
                    <a:pt x="2667" y="49022"/>
                  </a:lnTo>
                  <a:cubicBezTo>
                    <a:pt x="22606" y="37973"/>
                    <a:pt x="54102" y="27813"/>
                    <a:pt x="61468" y="26035"/>
                  </a:cubicBezTo>
                  <a:lnTo>
                    <a:pt x="62738" y="30988"/>
                  </a:lnTo>
                  <a:lnTo>
                    <a:pt x="61468" y="35941"/>
                  </a:lnTo>
                  <a:moveTo>
                    <a:pt x="63881" y="26162"/>
                  </a:moveTo>
                  <a:lnTo>
                    <a:pt x="83693" y="31115"/>
                  </a:lnTo>
                  <a:lnTo>
                    <a:pt x="63881" y="36068"/>
                  </a:lnTo>
                  <a:cubicBezTo>
                    <a:pt x="57023" y="37719"/>
                    <a:pt x="26416" y="47498"/>
                    <a:pt x="7493" y="58039"/>
                  </a:cubicBezTo>
                  <a:lnTo>
                    <a:pt x="0" y="62230"/>
                  </a:lnTo>
                  <a:lnTo>
                    <a:pt x="0" y="53594"/>
                  </a:lnTo>
                  <a:lnTo>
                    <a:pt x="0" y="8636"/>
                  </a:lnTo>
                  <a:lnTo>
                    <a:pt x="0" y="0"/>
                  </a:lnTo>
                  <a:lnTo>
                    <a:pt x="7493" y="4191"/>
                  </a:lnTo>
                  <a:cubicBezTo>
                    <a:pt x="26416" y="14732"/>
                    <a:pt x="57023" y="24511"/>
                    <a:pt x="63881" y="26162"/>
                  </a:cubicBez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8004" y="65522"/>
            <a:ext cx="2496302" cy="24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ReasonKG - System Architecture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6865" y="713994"/>
            <a:ext cx="794338" cy="167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SEC</a:t>
            </a:r>
            <a:r>
              <a:rPr lang="en-US" sz="996" b="1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EDGAR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6293" y="748865"/>
            <a:ext cx="814581" cy="609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Neo4j</a:t>
            </a:r>
            <a:r>
              <a:rPr lang="en-US" sz="996" b="1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</a:t>
            </a:r>
          </a:p>
          <a:p>
            <a:pPr algn="ctr">
              <a:lnSpc>
                <a:spcPts val="1195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218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 financial metrics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43480" y="743598"/>
            <a:ext cx="686486" cy="60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Hybrid</a:t>
            </a:r>
          </a:p>
          <a:p>
            <a:pPr algn="ctr">
              <a:lnSpc>
                <a:spcPts val="1195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Retrieval </a:t>
            </a:r>
            <a:r>
              <a:rPr lang="en-US" sz="996" spc="12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PageIndex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+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KG-FAISS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43109" y="797542"/>
            <a:ext cx="793378" cy="455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GPT-4o</a:t>
            </a:r>
          </a:p>
          <a:p>
            <a:pPr algn="ctr">
              <a:lnSpc>
                <a:spcPts val="1195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Answer Generation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52542" y="1864776"/>
            <a:ext cx="744893" cy="455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</a:t>
            </a:r>
          </a:p>
          <a:p>
            <a:pPr algn="ctr">
              <a:lnSpc>
                <a:spcPts val="1195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Answer +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Report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52543" y="672951"/>
            <a:ext cx="744893" cy="76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b="1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Consistency Checker</a:t>
            </a:r>
          </a:p>
          <a:p>
            <a:pPr algn="ctr">
              <a:lnSpc>
                <a:spcPts val="1195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Claim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Extract KG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Verify Correct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1760" y="886549"/>
            <a:ext cx="799443" cy="43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26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filings AAPL/MSFT/ AMZN/NVDA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08004" y="2512243"/>
            <a:ext cx="2322500" cy="310444"/>
            <a:chOff x="0" y="0"/>
            <a:chExt cx="3096666" cy="413925"/>
          </a:xfrm>
        </p:grpSpPr>
        <p:sp>
          <p:nvSpPr>
            <p:cNvPr id="44" name="TextBox 44"/>
            <p:cNvSpPr txBox="1"/>
            <p:nvPr/>
          </p:nvSpPr>
          <p:spPr>
            <a:xfrm>
              <a:off x="0" y="5340"/>
              <a:ext cx="1491501" cy="204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KG: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SEC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XBRL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API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80223" y="-9525"/>
              <a:ext cx="1716443" cy="234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→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Neo4j;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2015–2025;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210014"/>
              <a:ext cx="2131733" cy="203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metrics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per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company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per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year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773566" y="1393193"/>
            <a:ext cx="437721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3">
                <a:solidFill>
                  <a:srgbClr val="0A3D76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ground</a:t>
            </a:r>
            <a:r>
              <a:rPr lang="en-US" sz="597" spc="-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597" spc="-3">
                <a:solidFill>
                  <a:srgbClr val="0A3D76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truth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491124" y="3123038"/>
            <a:ext cx="191976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4/10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880031" y="2512243"/>
            <a:ext cx="2744010" cy="354673"/>
            <a:chOff x="0" y="0"/>
            <a:chExt cx="3658679" cy="472897"/>
          </a:xfrm>
        </p:grpSpPr>
        <p:sp>
          <p:nvSpPr>
            <p:cNvPr id="50" name="TextBox 50"/>
            <p:cNvSpPr txBox="1"/>
            <p:nvPr/>
          </p:nvSpPr>
          <p:spPr>
            <a:xfrm>
              <a:off x="0" y="-9525"/>
              <a:ext cx="1512672" cy="204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3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Novel</a:t>
              </a:r>
              <a:r>
                <a:rPr lang="en-US" sz="996" spc="13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3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contribution: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195136"/>
              <a:ext cx="894321" cy="203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KG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verifier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(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56728" y="-7302"/>
              <a:ext cx="1913750" cy="203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metric-first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claim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extractor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6783" y="238366"/>
              <a:ext cx="2506980" cy="234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±5%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tolerance)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→</a:t>
              </a:r>
              <a:r>
                <a:rPr lang="en-US" sz="996" spc="12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996" spc="12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auto-correction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486607" y="35928"/>
              <a:ext cx="172072" cy="204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r>
                <a:rPr lang="en-US" sz="996" spc="111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→</a:t>
              </a:r>
            </a:p>
          </p:txBody>
        </p:sp>
      </p:grp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AD696808-FAF4-A949-D847-2419EE682826}"/>
              </a:ext>
            </a:extLst>
          </p:cNvPr>
          <p:cNvCxnSpPr>
            <a:cxnSpLocks/>
            <a:stCxn id="37" idx="2"/>
          </p:cNvCxnSpPr>
          <p:nvPr/>
        </p:nvCxnSpPr>
        <p:spPr>
          <a:xfrm rot="5400000" flipH="1" flipV="1">
            <a:off x="3091326" y="-124117"/>
            <a:ext cx="194765" cy="2770251"/>
          </a:xfrm>
          <a:prstGeom prst="curvedConnector4">
            <a:avLst>
              <a:gd name="adj1" fmla="val -117372"/>
              <a:gd name="adj2" fmla="val 954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9703" y="507997"/>
            <a:ext cx="5537197" cy="2705100"/>
            <a:chOff x="0" y="0"/>
            <a:chExt cx="7382929" cy="3606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82891" cy="3606800"/>
            </a:xfrm>
            <a:custGeom>
              <a:avLst/>
              <a:gdLst/>
              <a:ahLst/>
              <a:cxnLst/>
              <a:rect l="l" t="t" r="r" b="b"/>
              <a:pathLst>
                <a:path w="7382891" h="3606800">
                  <a:moveTo>
                    <a:pt x="0" y="0"/>
                  </a:moveTo>
                  <a:lnTo>
                    <a:pt x="7382891" y="0"/>
                  </a:lnTo>
                  <a:lnTo>
                    <a:pt x="7382891" y="3606800"/>
                  </a:lnTo>
                  <a:lnTo>
                    <a:pt x="0" y="360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04" y="65522"/>
            <a:ext cx="3359348" cy="24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Consistency Checker - Our Novel Contribution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430" y="608848"/>
            <a:ext cx="2812671" cy="1459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3"/>
              </a:lnSpc>
            </a:pPr>
            <a:r>
              <a:rPr lang="en-US" sz="999" b="1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Three-Stage Pipeline</a:t>
            </a:r>
          </a:p>
          <a:p>
            <a:pPr algn="l">
              <a:lnSpc>
                <a:spcPts val="240"/>
              </a:lnSpc>
            </a:pPr>
            <a:endParaRPr lang="en-US" sz="999" b="1" dirty="0">
              <a:solidFill>
                <a:srgbClr val="FFFFFF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 algn="l">
              <a:lnSpc>
                <a:spcPts val="1203"/>
              </a:lnSpc>
            </a:pP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Stage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-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Claim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Extraction</a:t>
            </a:r>
          </a:p>
          <a:p>
            <a:pPr algn="l">
              <a:lnSpc>
                <a:spcPts val="1203"/>
              </a:lnSpc>
            </a:pP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Metric-first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regex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spaCy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sentence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parser Handles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billions,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millions,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EPS,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multi-claim sentences 10/10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edge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case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tests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passing</a:t>
            </a:r>
          </a:p>
          <a:p>
            <a:pPr algn="l">
              <a:lnSpc>
                <a:spcPts val="240"/>
              </a:lnSpc>
            </a:pPr>
            <a:endParaRPr lang="en-US" sz="999" spc="12" dirty="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1203"/>
              </a:lnSpc>
            </a:pPr>
            <a:endParaRPr lang="en-US" sz="999" b="1" spc="13" dirty="0">
              <a:solidFill>
                <a:srgbClr val="00000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 algn="l">
              <a:lnSpc>
                <a:spcPts val="1203"/>
              </a:lnSpc>
            </a:pP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Stage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-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KG</a:t>
            </a:r>
            <a:r>
              <a:rPr lang="en-US" sz="999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Verification</a:t>
            </a:r>
          </a:p>
          <a:p>
            <a:pPr algn="l">
              <a:lnSpc>
                <a:spcPts val="1203"/>
              </a:lnSpc>
            </a:pP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Queries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Neo4j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ground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truth</a:t>
            </a:r>
            <a:r>
              <a:rPr lang="en-US" sz="999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value</a:t>
            </a:r>
          </a:p>
          <a:p>
            <a:pPr algn="l">
              <a:lnSpc>
                <a:spcPts val="1548"/>
              </a:lnSpc>
            </a:pPr>
            <a:r>
              <a:rPr lang="en-US" sz="1000" spc="-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Verdict:</a:t>
            </a:r>
            <a:r>
              <a:rPr lang="en-US" sz="1000" spc="-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00" spc="-4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</a:t>
            </a:r>
            <a:r>
              <a:rPr lang="en-US" sz="1000" spc="-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00" spc="-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  <a:r>
              <a:rPr lang="en-US" sz="1000" spc="-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00" spc="-4" dirty="0">
                <a:solidFill>
                  <a:srgbClr val="BE1E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HALLUCINATED</a:t>
            </a:r>
            <a:r>
              <a:rPr lang="en-US" sz="1000" spc="-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00" spc="-4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  <a:r>
              <a:rPr lang="en-US" sz="1000" spc="-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00" spc="-4" dirty="0">
                <a:solidFill>
                  <a:srgbClr val="0A3D76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UNVERIFIABLE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352" y="2357714"/>
            <a:ext cx="2242509" cy="69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"/>
              </a:lnSpc>
            </a:pPr>
            <a:r>
              <a:rPr lang="en-US" sz="1195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 Property</a:t>
            </a:r>
          </a:p>
          <a:p>
            <a:pPr algn="l">
              <a:lnSpc>
                <a:spcPts val="351"/>
              </a:lnSpc>
            </a:pPr>
            <a:endParaRPr lang="en-US" sz="1195" spc="-2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946"/>
              </a:lnSpc>
            </a:pP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Consistency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Checker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operates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after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retrieval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 generation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catches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errors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even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good retrieval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misses,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demonstrated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Amazon gross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profit</a:t>
            </a:r>
            <a:r>
              <a:rPr lang="en-US" sz="797" spc="-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case.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81928" y="613585"/>
            <a:ext cx="2382528" cy="43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"/>
              </a:lnSpc>
            </a:pPr>
            <a:r>
              <a:rPr lang="en-US" sz="1195" b="1" spc="-2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Example - Apple Net Income FY2024</a:t>
            </a:r>
          </a:p>
          <a:p>
            <a:pPr algn="l">
              <a:lnSpc>
                <a:spcPts val="115"/>
              </a:lnSpc>
            </a:pPr>
            <a:endParaRPr lang="en-US" sz="1195" b="1" spc="-2">
              <a:solidFill>
                <a:srgbClr val="FFFFFF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 algn="l">
              <a:lnSpc>
                <a:spcPts val="950"/>
              </a:lnSpc>
            </a:pPr>
            <a:r>
              <a:rPr lang="en-US" sz="799" b="1" spc="-1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LLM</a:t>
            </a:r>
            <a:r>
              <a:rPr lang="en-US" sz="799" b="1" spc="-15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799" b="1" spc="-1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raw</a:t>
            </a:r>
            <a:r>
              <a:rPr lang="en-US" sz="799" b="1" spc="-15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799" b="1" spc="-1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answer:</a:t>
            </a:r>
          </a:p>
          <a:p>
            <a:pPr algn="l">
              <a:lnSpc>
                <a:spcPts val="950"/>
              </a:lnSpc>
            </a:pPr>
            <a:r>
              <a:rPr lang="en-US" sz="799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“Apple’s</a:t>
            </a:r>
            <a:r>
              <a:rPr lang="en-US" sz="799" spc="-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9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</a:t>
            </a:r>
            <a:r>
              <a:rPr lang="en-US" sz="799" spc="-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9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</a:t>
            </a:r>
            <a:r>
              <a:rPr lang="en-US" sz="799" spc="-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9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was</a:t>
            </a:r>
            <a:r>
              <a:rPr lang="en-US" sz="799" spc="-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9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$ 96.2 billion”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0211" y="2261234"/>
            <a:ext cx="2651460" cy="455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3"/>
              </a:lnSpc>
            </a:pPr>
            <a:r>
              <a:rPr lang="en-US" sz="1000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Stage</a:t>
            </a:r>
            <a:r>
              <a:rPr lang="en-US" sz="1000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1000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3</a:t>
            </a:r>
            <a:r>
              <a:rPr lang="en-US" sz="1000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1000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–</a:t>
            </a:r>
            <a:r>
              <a:rPr lang="en-US" sz="1000" b="1" spc="13" dirty="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1000" b="1" spc="13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Auto Correction</a:t>
            </a:r>
          </a:p>
          <a:p>
            <a:pPr algn="l">
              <a:lnSpc>
                <a:spcPts val="1195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Hallucinated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sentences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rewritten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LLM with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value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substituted</a:t>
            </a:r>
            <a:r>
              <a: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 it.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38283" y="2046407"/>
            <a:ext cx="2175691" cy="174241"/>
            <a:chOff x="0" y="-19050"/>
            <a:chExt cx="2900921" cy="23232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778700" cy="222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4"/>
                </a:lnSpc>
              </a:pPr>
              <a:endParaRPr lang="en-US" sz="996" spc="12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8700" y="-19050"/>
              <a:ext cx="115631" cy="1873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4"/>
                </a:lnSpc>
              </a:pPr>
              <a:r>
                <a:rPr lang="en-US" sz="860" spc="96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900921" cy="2227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394"/>
                </a:lnSpc>
              </a:pPr>
              <a:r>
                <a:rPr lang="en-US" sz="996" spc="12" dirty="0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Tolerance:</a:t>
              </a:r>
              <a:r>
                <a:rPr lang="en-US" sz="996" spc="12" dirty="0">
                  <a:solidFill>
                    <a:srgbClr val="FFFFFF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    </a:t>
              </a:r>
              <a:r>
                <a:rPr lang="en-US" sz="996" spc="12" dirty="0">
                  <a:solidFill>
                    <a:srgbClr val="000000"/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5%forroundingdifferences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491124" y="3123038"/>
            <a:ext cx="183512" cy="9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5/10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1928" y="1027845"/>
            <a:ext cx="2838353" cy="35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b="1" spc="1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Claim</a:t>
            </a:r>
            <a:r>
              <a:rPr lang="en-US" sz="797" b="1" spc="1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797" b="1" spc="1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extracted:</a:t>
            </a: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398"/>
              </a:lnSpc>
            </a:pP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net_income | AAPL | 2024 | $96.2B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81928" y="1472589"/>
            <a:ext cx="1808845" cy="59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"/>
              </a:lnSpc>
            </a:pPr>
            <a:r>
              <a:rPr lang="en-US" sz="797" b="1" spc="4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KG query result:</a:t>
            </a:r>
          </a:p>
          <a:p>
            <a:pPr algn="l">
              <a:lnSpc>
                <a:spcPts val="884"/>
              </a:lnSpc>
            </a:pPr>
            <a:r>
              <a:rPr lang="en-US" sz="797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Neo4j: $93.7B </a:t>
            </a:r>
          </a:p>
          <a:p>
            <a:pPr algn="l">
              <a:lnSpc>
                <a:spcPts val="884"/>
              </a:lnSpc>
            </a:pP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Verdict:</a:t>
            </a:r>
            <a:r>
              <a:rPr lang="en-US" sz="797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>
                <a:solidFill>
                  <a:srgbClr val="BE1E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HALLUCINATED (error: 2.7%)</a:t>
            </a:r>
          </a:p>
          <a:p>
            <a:pPr marL="42535" lvl="1" indent="-21268" algn="l">
              <a:lnSpc>
                <a:spcPts val="443"/>
              </a:lnSpc>
              <a:buAutoNum type="arabicPeriod"/>
            </a:pPr>
            <a:endParaRPr lang="en-US" sz="797" spc="11">
              <a:solidFill>
                <a:srgbClr val="BE1E2D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884"/>
              </a:lnSpc>
            </a:pPr>
            <a:r>
              <a:rPr lang="en-US" sz="797" b="1" spc="1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Corrected</a:t>
            </a:r>
            <a:r>
              <a:rPr lang="en-US" sz="797" b="1" spc="1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797" b="1" spc="1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answer: </a:t>
            </a:r>
          </a:p>
          <a:p>
            <a:pPr algn="l">
              <a:lnSpc>
                <a:spcPts val="884"/>
              </a:lnSpc>
            </a:pP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“Apple’s</a:t>
            </a:r>
            <a:r>
              <a:rPr lang="en-US" sz="797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</a:t>
            </a:r>
            <a:r>
              <a:rPr lang="en-US" sz="797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</a:t>
            </a:r>
            <a:r>
              <a:rPr lang="en-US" sz="797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was$93.74 billion”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697" y="533400"/>
            <a:ext cx="5778503" cy="2590800"/>
            <a:chOff x="0" y="0"/>
            <a:chExt cx="7704671" cy="345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04709" cy="3454400"/>
            </a:xfrm>
            <a:custGeom>
              <a:avLst/>
              <a:gdLst/>
              <a:ahLst/>
              <a:cxnLst/>
              <a:rect l="l" t="t" r="r" b="b"/>
              <a:pathLst>
                <a:path w="7704709" h="3454400">
                  <a:moveTo>
                    <a:pt x="0" y="0"/>
                  </a:moveTo>
                  <a:lnTo>
                    <a:pt x="7704709" y="0"/>
                  </a:lnTo>
                  <a:lnTo>
                    <a:pt x="7704709" y="3454400"/>
                  </a:lnTo>
                  <a:lnTo>
                    <a:pt x="0" y="345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04" y="65522"/>
            <a:ext cx="2514410" cy="24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Design Choices &amp; KRR Concepts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541" y="2363580"/>
            <a:ext cx="5448571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999" spc="-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KRR Connection</a:t>
            </a:r>
          </a:p>
          <a:p>
            <a:pPr algn="l">
              <a:lnSpc>
                <a:spcPts val="1619"/>
              </a:lnSpc>
            </a:pPr>
            <a:r>
              <a:rPr lang="en-US" sz="999" b="1" spc="13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Representation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(Neo4j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KG)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b="1" spc="13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Retrieval</a:t>
            </a:r>
            <a:r>
              <a:rPr lang="en-US" sz="999" b="1" spc="1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999" b="1" spc="13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Reasoning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(PageIndex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tree)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 </a:t>
            </a:r>
            <a:r>
              <a:rPr lang="en-US" sz="999" b="1" spc="13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Consistency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(cross-validation)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complete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KRR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applied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financial</a:t>
            </a:r>
            <a:r>
              <a:rPr lang="en-US" sz="99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478" y="605066"/>
            <a:ext cx="1663713" cy="1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Knowledge Representation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62742" y="605066"/>
            <a:ext cx="1593561" cy="1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Reasoning &amp; Consistency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2579" y="869892"/>
            <a:ext cx="2225192" cy="48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5"/>
              </a:lnSpc>
            </a:pP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Neo4j</a:t>
            </a:r>
            <a:r>
              <a:rPr lang="en-US" sz="7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encodes</a:t>
            </a:r>
            <a:r>
              <a:rPr lang="en-US" sz="7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financial</a:t>
            </a:r>
            <a:r>
              <a:rPr lang="en-US" sz="7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entities</a:t>
            </a:r>
            <a:r>
              <a:rPr lang="en-US" sz="7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7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typed nodes:</a:t>
            </a:r>
          </a:p>
          <a:p>
            <a:pPr algn="l">
              <a:lnSpc>
                <a:spcPts val="715"/>
              </a:lnSpc>
            </a:pPr>
            <a:endParaRPr lang="en-US" sz="796" spc="11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1234"/>
              </a:lnSpc>
            </a:pP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((Company)-[:HAS METRIC]  -&gt;</a:t>
            </a:r>
          </a:p>
          <a:p>
            <a:pPr algn="l">
              <a:lnSpc>
                <a:spcPts val="1234"/>
              </a:lnSpc>
            </a:pP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(FinancialMetric{value, year})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2579" y="1499416"/>
            <a:ext cx="2341159" cy="55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5"/>
              </a:lnSpc>
            </a:pP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Ground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truth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sourced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SEC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XBRL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API -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same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companies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file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regulators</a:t>
            </a:r>
          </a:p>
          <a:p>
            <a:pPr algn="l">
              <a:lnSpc>
                <a:spcPts val="475"/>
              </a:lnSpc>
            </a:pPr>
            <a:endParaRPr lang="en-US" sz="796" spc="1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1433"/>
              </a:lnSpc>
            </a:pP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218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records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across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tickers,</a:t>
            </a:r>
          </a:p>
          <a:p>
            <a:pPr algn="l">
              <a:lnSpc>
                <a:spcPts val="477"/>
              </a:lnSpc>
            </a:pP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2015–2025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98514" y="860367"/>
            <a:ext cx="2388599" cy="135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1"/>
              </a:lnSpc>
            </a:pPr>
            <a:r>
              <a:rPr lang="en-US" sz="796" b="1" spc="1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Hybrid</a:t>
            </a:r>
            <a:r>
              <a:rPr lang="en-US" sz="796" b="1" spc="1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796" b="1" spc="1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retrieval:</a:t>
            </a:r>
            <a:r>
              <a:rPr lang="en-US" sz="796" b="1" spc="1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  <a:p>
            <a:pPr algn="l">
              <a:lnSpc>
                <a:spcPts val="1011"/>
              </a:lnSpc>
            </a:pP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PageIndex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uses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LLM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 reason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over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document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structure; KG-FAISS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anchors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retrieval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796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 </a:t>
            </a:r>
          </a:p>
          <a:p>
            <a:pPr algn="l">
              <a:lnSpc>
                <a:spcPts val="1011"/>
              </a:lnSpc>
            </a:pPr>
            <a:r>
              <a:rPr lang="en-US" sz="7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entities</a:t>
            </a:r>
          </a:p>
          <a:p>
            <a:pPr algn="l">
              <a:lnSpc>
                <a:spcPts val="995"/>
              </a:lnSpc>
            </a:pPr>
            <a:endParaRPr lang="en-US" sz="796" spc="1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995"/>
              </a:lnSpc>
            </a:pPr>
            <a:r>
              <a:rPr lang="en-US" sz="796" b="1" spc="1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Consistency</a:t>
            </a:r>
            <a:r>
              <a:rPr lang="en-US" sz="796" b="1" spc="1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796" b="1" spc="1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checking:</a:t>
            </a:r>
            <a:r>
              <a:rPr lang="en-US" sz="7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995"/>
              </a:lnSpc>
            </a:pP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logical cross-validation - if claim = KG value     5%</a:t>
            </a:r>
          </a:p>
          <a:p>
            <a:pPr algn="l">
              <a:lnSpc>
                <a:spcPts val="995"/>
              </a:lnSpc>
            </a:pP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verdict = HALLUCINATED </a:t>
            </a:r>
          </a:p>
          <a:p>
            <a:pPr algn="l">
              <a:lnSpc>
                <a:spcPts val="870"/>
              </a:lnSpc>
            </a:pPr>
            <a:endParaRPr lang="en-US" sz="796" spc="11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995"/>
              </a:lnSpc>
            </a:pPr>
            <a:r>
              <a:rPr lang="en-US" sz="796" b="1" spc="1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Auto-correction: </a:t>
            </a:r>
          </a:p>
          <a:p>
            <a:pPr algn="l">
              <a:lnSpc>
                <a:spcPts val="995"/>
              </a:lnSpc>
            </a:pPr>
            <a:r>
              <a:rPr lang="en-US" sz="7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hallucinated sentences rewritten with verified KG value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91124" y="3123038"/>
            <a:ext cx="191976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6/10</a:t>
            </a:r>
          </a:p>
        </p:txBody>
      </p:sp>
      <p:sp>
        <p:nvSpPr>
          <p:cNvPr id="14" name="Freeform 14"/>
          <p:cNvSpPr/>
          <p:nvPr/>
        </p:nvSpPr>
        <p:spPr>
          <a:xfrm>
            <a:off x="4582316" y="1636667"/>
            <a:ext cx="81391" cy="91565"/>
          </a:xfrm>
          <a:custGeom>
            <a:avLst/>
            <a:gdLst/>
            <a:ahLst/>
            <a:cxnLst/>
            <a:rect l="l" t="t" r="r" b="b"/>
            <a:pathLst>
              <a:path w="81391" h="91565">
                <a:moveTo>
                  <a:pt x="0" y="0"/>
                </a:moveTo>
                <a:lnTo>
                  <a:pt x="81391" y="0"/>
                </a:lnTo>
                <a:lnTo>
                  <a:pt x="81391" y="91565"/>
                </a:lnTo>
                <a:lnTo>
                  <a:pt x="0" y="91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061237" y="1600352"/>
            <a:ext cx="63345" cy="145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"/>
              </a:lnSpc>
            </a:pPr>
            <a:r>
              <a:rPr lang="en-US" sz="859" spc="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7218" y="521065"/>
            <a:ext cx="2960684" cy="1831610"/>
            <a:chOff x="0" y="0"/>
            <a:chExt cx="3947579" cy="24421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47541" cy="2442083"/>
            </a:xfrm>
            <a:custGeom>
              <a:avLst/>
              <a:gdLst/>
              <a:ahLst/>
              <a:cxnLst/>
              <a:rect l="l" t="t" r="r" b="b"/>
              <a:pathLst>
                <a:path w="3947541" h="2442083">
                  <a:moveTo>
                    <a:pt x="0" y="0"/>
                  </a:moveTo>
                  <a:lnTo>
                    <a:pt x="3947541" y="0"/>
                  </a:lnTo>
                  <a:lnTo>
                    <a:pt x="3947541" y="2442083"/>
                  </a:lnTo>
                  <a:lnTo>
                    <a:pt x="0" y="2442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136897" y="1905000"/>
            <a:ext cx="2641597" cy="1244603"/>
            <a:chOff x="0" y="0"/>
            <a:chExt cx="3522129" cy="1659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22091" cy="1659509"/>
            </a:xfrm>
            <a:custGeom>
              <a:avLst/>
              <a:gdLst/>
              <a:ahLst/>
              <a:cxnLst/>
              <a:rect l="l" t="t" r="r" b="b"/>
              <a:pathLst>
                <a:path w="3522091" h="1659509">
                  <a:moveTo>
                    <a:pt x="0" y="0"/>
                  </a:moveTo>
                  <a:lnTo>
                    <a:pt x="3522091" y="0"/>
                  </a:lnTo>
                  <a:lnTo>
                    <a:pt x="3522091" y="1659509"/>
                  </a:lnTo>
                  <a:lnTo>
                    <a:pt x="0" y="1659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5178" y="964244"/>
            <a:ext cx="2162480" cy="6925"/>
            <a:chOff x="0" y="0"/>
            <a:chExt cx="2162480" cy="69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62429" cy="6985"/>
            </a:xfrm>
            <a:custGeom>
              <a:avLst/>
              <a:gdLst/>
              <a:ahLst/>
              <a:cxnLst/>
              <a:rect l="l" t="t" r="r" b="b"/>
              <a:pathLst>
                <a:path w="2162429" h="6985">
                  <a:moveTo>
                    <a:pt x="0" y="0"/>
                  </a:moveTo>
                  <a:lnTo>
                    <a:pt x="2162429" y="0"/>
                  </a:lnTo>
                  <a:lnTo>
                    <a:pt x="2162429" y="6985"/>
                  </a:lnTo>
                  <a:lnTo>
                    <a:pt x="0" y="6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55178" y="1758525"/>
            <a:ext cx="2162480" cy="11087"/>
            <a:chOff x="0" y="0"/>
            <a:chExt cx="2162480" cy="110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62429" cy="11049"/>
            </a:xfrm>
            <a:custGeom>
              <a:avLst/>
              <a:gdLst/>
              <a:ahLst/>
              <a:cxnLst/>
              <a:rect l="l" t="t" r="r" b="b"/>
              <a:pathLst>
                <a:path w="2162429" h="11049">
                  <a:moveTo>
                    <a:pt x="0" y="0"/>
                  </a:moveTo>
                  <a:lnTo>
                    <a:pt x="2162429" y="0"/>
                  </a:lnTo>
                  <a:lnTo>
                    <a:pt x="2162429" y="11049"/>
                  </a:lnTo>
                  <a:lnTo>
                    <a:pt x="0" y="11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55178" y="647595"/>
            <a:ext cx="2162480" cy="11087"/>
            <a:chOff x="0" y="0"/>
            <a:chExt cx="2162480" cy="11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62429" cy="11049"/>
            </a:xfrm>
            <a:custGeom>
              <a:avLst/>
              <a:gdLst/>
              <a:ahLst/>
              <a:cxnLst/>
              <a:rect l="l" t="t" r="r" b="b"/>
              <a:pathLst>
                <a:path w="2162429" h="11049">
                  <a:moveTo>
                    <a:pt x="0" y="0"/>
                  </a:moveTo>
                  <a:lnTo>
                    <a:pt x="2162429" y="0"/>
                  </a:lnTo>
                  <a:lnTo>
                    <a:pt x="2162429" y="11049"/>
                  </a:lnTo>
                  <a:lnTo>
                    <a:pt x="0" y="11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8004" y="65522"/>
            <a:ext cx="4213155" cy="24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 - Hallucination Rate (20 Queries, 4 Companies)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1083" y="693287"/>
            <a:ext cx="1222200" cy="93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090" spc="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System</a:t>
            </a:r>
          </a:p>
          <a:p>
            <a:pPr algn="l">
              <a:lnSpc>
                <a:spcPts val="1897"/>
              </a:lnSpc>
            </a:pPr>
            <a:r>
              <a:rPr lang="en-US" sz="109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Vanilla</a:t>
            </a:r>
            <a:r>
              <a:rPr lang="en-US" sz="1090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 KG+PageIndex</a:t>
            </a:r>
            <a:r>
              <a:rPr lang="en-US" sz="1090" spc="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</a:t>
            </a:r>
          </a:p>
          <a:p>
            <a:pPr algn="l">
              <a:lnSpc>
                <a:spcPts val="1897"/>
              </a:lnSpc>
            </a:pPr>
            <a:r>
              <a:rPr lang="en-US" sz="1090" spc="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ReasonKG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81185" y="636137"/>
            <a:ext cx="673837" cy="104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0"/>
              </a:lnSpc>
            </a:pPr>
            <a:r>
              <a:rPr lang="en-US" sz="1090" spc="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Hall.</a:t>
            </a:r>
            <a:r>
              <a:rPr lang="en-US" sz="1090" spc="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 </a:t>
            </a:r>
            <a:r>
              <a:rPr lang="en-US" sz="1090" spc="15">
                <a:solidFill>
                  <a:srgbClr val="BE1E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15.0%</a:t>
            </a:r>
          </a:p>
          <a:p>
            <a:pPr algn="ctr">
              <a:lnSpc>
                <a:spcPts val="1333"/>
              </a:lnSpc>
            </a:pPr>
            <a:r>
              <a:rPr lang="en-US" sz="1090" spc="15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2.5%</a:t>
            </a:r>
          </a:p>
          <a:p>
            <a:pPr algn="ctr">
              <a:lnSpc>
                <a:spcPts val="2460"/>
              </a:lnSpc>
            </a:pPr>
            <a:r>
              <a:rPr lang="en-US" sz="1090" spc="15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0.0%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55178" y="1989677"/>
            <a:ext cx="2356371" cy="98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4"/>
              </a:lnSpc>
            </a:pPr>
            <a:r>
              <a:rPr lang="en-US" sz="1195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 Finding</a:t>
            </a:r>
          </a:p>
          <a:p>
            <a:pPr algn="l">
              <a:lnSpc>
                <a:spcPts val="714"/>
              </a:lnSpc>
            </a:pPr>
            <a:endParaRPr lang="en-US" sz="1195" spc="-2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1075"/>
              </a:lnSpc>
            </a:pP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100%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reduction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hallucination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 Vanilla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ReasonKG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across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 companies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fiscal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years.</a:t>
            </a:r>
          </a:p>
          <a:p>
            <a:pPr algn="l">
              <a:lnSpc>
                <a:spcPts val="1792"/>
              </a:lnSpc>
            </a:pP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medium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difficulty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queries: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Vanilla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</a:t>
            </a:r>
          </a:p>
          <a:p>
            <a:pPr algn="l">
              <a:lnSpc>
                <a:spcPts val="448"/>
              </a:lnSpc>
            </a:pP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21.4%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ReasonKG</a:t>
            </a:r>
            <a:r>
              <a:rPr lang="en-US" sz="896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0%.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91124" y="3123038"/>
            <a:ext cx="191976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7190" y="534857"/>
            <a:ext cx="2818257" cy="1975958"/>
            <a:chOff x="0" y="0"/>
            <a:chExt cx="3801516" cy="26653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01491" cy="2665349"/>
            </a:xfrm>
            <a:custGeom>
              <a:avLst/>
              <a:gdLst/>
              <a:ahLst/>
              <a:cxnLst/>
              <a:rect l="l" t="t" r="r" b="b"/>
              <a:pathLst>
                <a:path w="3801491" h="2665349">
                  <a:moveTo>
                    <a:pt x="0" y="0"/>
                  </a:moveTo>
                  <a:lnTo>
                    <a:pt x="3801491" y="0"/>
                  </a:lnTo>
                  <a:lnTo>
                    <a:pt x="3801491" y="2665349"/>
                  </a:lnTo>
                  <a:lnTo>
                    <a:pt x="0" y="2665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22597" y="2095500"/>
            <a:ext cx="2755897" cy="1041397"/>
            <a:chOff x="0" y="0"/>
            <a:chExt cx="3674529" cy="13885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74491" cy="1388491"/>
            </a:xfrm>
            <a:custGeom>
              <a:avLst/>
              <a:gdLst/>
              <a:ahLst/>
              <a:cxnLst/>
              <a:rect l="l" t="t" r="r" b="b"/>
              <a:pathLst>
                <a:path w="3674491" h="1388491">
                  <a:moveTo>
                    <a:pt x="0" y="0"/>
                  </a:moveTo>
                  <a:lnTo>
                    <a:pt x="3674491" y="0"/>
                  </a:lnTo>
                  <a:lnTo>
                    <a:pt x="3674491" y="1388491"/>
                  </a:lnTo>
                  <a:lnTo>
                    <a:pt x="0" y="138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76600" y="850897"/>
            <a:ext cx="88897" cy="76200"/>
            <a:chOff x="0" y="0"/>
            <a:chExt cx="118529" cy="101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491" cy="101600"/>
            </a:xfrm>
            <a:custGeom>
              <a:avLst/>
              <a:gdLst/>
              <a:ahLst/>
              <a:cxnLst/>
              <a:rect l="l" t="t" r="r" b="b"/>
              <a:pathLst>
                <a:path w="118491" h="101600">
                  <a:moveTo>
                    <a:pt x="0" y="0"/>
                  </a:moveTo>
                  <a:lnTo>
                    <a:pt x="118491" y="0"/>
                  </a:lnTo>
                  <a:lnTo>
                    <a:pt x="118491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76600" y="1079497"/>
            <a:ext cx="88897" cy="76200"/>
            <a:chOff x="0" y="0"/>
            <a:chExt cx="118529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8491" cy="101600"/>
            </a:xfrm>
            <a:custGeom>
              <a:avLst/>
              <a:gdLst/>
              <a:ahLst/>
              <a:cxnLst/>
              <a:rect l="l" t="t" r="r" b="b"/>
              <a:pathLst>
                <a:path w="118491" h="101600">
                  <a:moveTo>
                    <a:pt x="0" y="0"/>
                  </a:moveTo>
                  <a:lnTo>
                    <a:pt x="118491" y="0"/>
                  </a:lnTo>
                  <a:lnTo>
                    <a:pt x="118491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76600" y="1308097"/>
            <a:ext cx="88897" cy="76200"/>
            <a:chOff x="0" y="0"/>
            <a:chExt cx="118529" cy="10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491" cy="101600"/>
            </a:xfrm>
            <a:custGeom>
              <a:avLst/>
              <a:gdLst/>
              <a:ahLst/>
              <a:cxnLst/>
              <a:rect l="l" t="t" r="r" b="b"/>
              <a:pathLst>
                <a:path w="118491" h="101600">
                  <a:moveTo>
                    <a:pt x="0" y="0"/>
                  </a:moveTo>
                  <a:lnTo>
                    <a:pt x="118491" y="0"/>
                  </a:lnTo>
                  <a:lnTo>
                    <a:pt x="118491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76600" y="1536697"/>
            <a:ext cx="88897" cy="76200"/>
            <a:chOff x="0" y="0"/>
            <a:chExt cx="118529" cy="10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8491" cy="101600"/>
            </a:xfrm>
            <a:custGeom>
              <a:avLst/>
              <a:gdLst/>
              <a:ahLst/>
              <a:cxnLst/>
              <a:rect l="l" t="t" r="r" b="b"/>
              <a:pathLst>
                <a:path w="118491" h="101600">
                  <a:moveTo>
                    <a:pt x="0" y="0"/>
                  </a:moveTo>
                  <a:lnTo>
                    <a:pt x="118491" y="0"/>
                  </a:lnTo>
                  <a:lnTo>
                    <a:pt x="118491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8004" y="65522"/>
            <a:ext cx="2321942" cy="24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 - Per-Query Breakdown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45526" y="1719917"/>
            <a:ext cx="2458860" cy="362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3"/>
              </a:lnSpc>
            </a:pPr>
            <a:r>
              <a:rPr lang="en-US" sz="996" spc="13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KG+PageIndex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caught: 3of4</a:t>
            </a:r>
          </a:p>
          <a:p>
            <a:pPr algn="l">
              <a:lnSpc>
                <a:spcPts val="1563"/>
              </a:lnSpc>
            </a:pPr>
            <a:r>
              <a:rPr lang="en-US" sz="996" spc="13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ReasonKG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caught: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</a:t>
            </a:r>
            <a:r>
              <a:rPr lang="en-US" sz="996" spc="1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 dirty="0">
                <a:solidFill>
                  <a:srgbClr val="0082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45526" y="582406"/>
            <a:ext cx="1352773" cy="15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Where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Vanilla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failed: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22609" y="773716"/>
            <a:ext cx="1544164" cy="84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Apple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FY2024 Microsoft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revenue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FY2023 NVIDIA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gross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profit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FY2024 Amazon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gross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profit</a:t>
            </a:r>
            <a:r>
              <a:rPr lang="en-US" sz="996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FY2024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91124" y="3123038"/>
            <a:ext cx="191976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8/10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45526" y="2179276"/>
            <a:ext cx="2458860" cy="78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20"/>
              </a:lnSpc>
              <a:spcBef>
                <a:spcPct val="0"/>
              </a:spcBef>
            </a:pPr>
            <a:r>
              <a:rPr lang="en-US" sz="800" b="1" spc="1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Consistency checker in action</a:t>
            </a:r>
          </a:p>
          <a:p>
            <a:pPr algn="just">
              <a:lnSpc>
                <a:spcPts val="840"/>
              </a:lnSpc>
              <a:spcBef>
                <a:spcPct val="0"/>
              </a:spcBef>
            </a:pPr>
            <a:endParaRPr lang="en-US" sz="800" b="1" spc="10">
              <a:solidFill>
                <a:srgbClr val="FFFFFF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 algn="just">
              <a:lnSpc>
                <a:spcPts val="1120"/>
              </a:lnSpc>
              <a:spcBef>
                <a:spcPct val="0"/>
              </a:spcBef>
            </a:pPr>
            <a:r>
              <a:rPr lang="en-US" sz="800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Amazon gross profit case was missed by KG+PageIndex retrieval but caught by the consistency checker - demonstrating that verification is independent of retrieval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759996" cy="350110"/>
            <a:chOff x="0" y="0"/>
            <a:chExt cx="5759996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9958" cy="350139"/>
            </a:xfrm>
            <a:custGeom>
              <a:avLst/>
              <a:gdLst/>
              <a:ahLst/>
              <a:cxnLst/>
              <a:rect l="l" t="t" r="r" b="b"/>
              <a:pathLst>
                <a:path w="5759958" h="350139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0A3D7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1498" y="407223"/>
            <a:ext cx="3963211" cy="1368466"/>
            <a:chOff x="0" y="0"/>
            <a:chExt cx="4166857" cy="14387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66870" cy="1438783"/>
            </a:xfrm>
            <a:custGeom>
              <a:avLst/>
              <a:gdLst/>
              <a:ahLst/>
              <a:cxnLst/>
              <a:rect l="l" t="t" r="r" b="b"/>
              <a:pathLst>
                <a:path w="4166870" h="1438783">
                  <a:moveTo>
                    <a:pt x="0" y="0"/>
                  </a:moveTo>
                  <a:lnTo>
                    <a:pt x="4166870" y="0"/>
                  </a:lnTo>
                  <a:lnTo>
                    <a:pt x="4166870" y="1438783"/>
                  </a:lnTo>
                  <a:lnTo>
                    <a:pt x="0" y="1438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6265" y="2059888"/>
            <a:ext cx="76200" cy="76200"/>
            <a:chOff x="0" y="0"/>
            <a:chExt cx="101600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5654" y="2307988"/>
            <a:ext cx="76200" cy="76200"/>
            <a:chOff x="0" y="0"/>
            <a:chExt cx="101600" cy="101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84830" y="2600507"/>
            <a:ext cx="76200" cy="76200"/>
            <a:chOff x="0" y="0"/>
            <a:chExt cx="101600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0404" y="2880388"/>
            <a:ext cx="76200" cy="76200"/>
            <a:chOff x="0" y="0"/>
            <a:chExt cx="101600" cy="10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11503" y="1877772"/>
            <a:ext cx="2641597" cy="1168403"/>
            <a:chOff x="0" y="0"/>
            <a:chExt cx="3522129" cy="15578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22091" cy="1557909"/>
            </a:xfrm>
            <a:custGeom>
              <a:avLst/>
              <a:gdLst/>
              <a:ahLst/>
              <a:cxnLst/>
              <a:rect l="l" t="t" r="r" b="b"/>
              <a:pathLst>
                <a:path w="3522091" h="1557909">
                  <a:moveTo>
                    <a:pt x="0" y="0"/>
                  </a:moveTo>
                  <a:lnTo>
                    <a:pt x="3522091" y="0"/>
                  </a:lnTo>
                  <a:lnTo>
                    <a:pt x="3522091" y="1557909"/>
                  </a:lnTo>
                  <a:lnTo>
                    <a:pt x="0" y="1557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8004" y="65522"/>
            <a:ext cx="2355437" cy="24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 Takeaways &amp; Contribution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218" y="1823275"/>
            <a:ext cx="1050206" cy="15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Novel</a:t>
            </a:r>
            <a:r>
              <a:rPr lang="en-US" sz="996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Contributions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55178" y="2170967"/>
            <a:ext cx="688172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&amp;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Storage: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55178" y="2327175"/>
            <a:ext cx="525000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Retrieval: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55178" y="2461974"/>
            <a:ext cx="252393" cy="271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45"/>
              </a:lnSpc>
            </a:pPr>
            <a:r>
              <a:rPr lang="en-US" sz="797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NLP: LLM: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55178" y="2752982"/>
            <a:ext cx="487395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Language: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4310" y="2034483"/>
            <a:ext cx="2695413" cy="107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Consistency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Checker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first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rule-based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claim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verifier grounded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financial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KG</a:t>
            </a:r>
          </a:p>
          <a:p>
            <a:pPr algn="l"/>
            <a:endParaRPr lang="en-US" sz="200" spc="-4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/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retrieval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 err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PageIndex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reasoning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KG-entity-guided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FAISS</a:t>
            </a:r>
          </a:p>
          <a:p>
            <a:pPr algn="l"/>
            <a:endParaRPr lang="en-US" sz="200" spc="-4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/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XBRL-powered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KG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218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verified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metrics,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years,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 companies</a:t>
            </a:r>
          </a:p>
          <a:p>
            <a:pPr algn="l"/>
            <a:endParaRPr lang="en-US" sz="200" spc="-4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/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100%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hallucination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reduction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Vanilla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797" spc="11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797" spc="1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20-query</a:t>
            </a:r>
          </a:p>
          <a:p>
            <a:pPr algn="l"/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benchmark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20899" y="2171809"/>
            <a:ext cx="1241317" cy="126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Neo4j,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EDGAR</a:t>
            </a:r>
            <a:r>
              <a:rPr lang="en-US" sz="797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XBRL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42573" y="2317671"/>
            <a:ext cx="1597971" cy="126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PageIndex,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FAISS,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BAAI/bge-large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32261" y="2463175"/>
            <a:ext cx="1291104" cy="27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5"/>
              </a:lnSpc>
            </a:pP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spaCy,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regex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claim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extractor GPT-4o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via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OpenAI</a:t>
            </a:r>
            <a:r>
              <a:rPr lang="en-US" sz="797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75596" y="2754182"/>
            <a:ext cx="1008107" cy="126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Python,</a:t>
            </a:r>
            <a:r>
              <a:rPr lang="en-US" sz="797" spc="-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Google</a:t>
            </a:r>
            <a:r>
              <a:rPr lang="en-US" sz="797" spc="-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Colab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55178" y="1938833"/>
            <a:ext cx="856869" cy="1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System Stack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91124" y="3123038"/>
            <a:ext cx="191976" cy="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0150" y="568689"/>
            <a:ext cx="3740763" cy="46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8"/>
              </a:lnSpc>
            </a:pPr>
            <a:r>
              <a:rPr lang="en-US" sz="1434" spc="20" dirty="0">
                <a:solidFill>
                  <a:srgbClr val="0A3D76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Thank</a:t>
            </a:r>
            <a:r>
              <a:rPr lang="en-US" sz="1434" spc="20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20" dirty="0">
                <a:solidFill>
                  <a:srgbClr val="0A3D76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</a:t>
            </a:r>
          </a:p>
          <a:p>
            <a:pPr algn="ctr">
              <a:lnSpc>
                <a:spcPts val="1673"/>
              </a:lnSpc>
            </a:pPr>
            <a:r>
              <a:rPr lang="en-US" sz="1195" spc="-2" dirty="0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Reason KG</a:t>
            </a:r>
            <a:r>
              <a:rPr lang="en-US" sz="1195" spc="-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2" dirty="0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1195" spc="-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2" dirty="0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KG-Grounded</a:t>
            </a:r>
            <a:r>
              <a:rPr lang="en-US" sz="1195" spc="-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2" dirty="0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RAG</a:t>
            </a:r>
            <a:r>
              <a:rPr lang="en-US" sz="1195" spc="-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2" dirty="0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195" spc="-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2" dirty="0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Consistency</a:t>
            </a:r>
            <a:r>
              <a:rPr lang="en-US" sz="1195" spc="-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2" dirty="0">
                <a:solidFill>
                  <a:srgbClr val="0099C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Checking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17627" y="1284808"/>
            <a:ext cx="1334900" cy="148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Chandana Vinay Kumar Raaghul Nataraj Kannan Narahari Kommi Madhurika Kandukoori Raja Shree Reddy </a:t>
            </a:r>
            <a:r>
              <a:rPr lang="en-US" sz="996" spc="12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Pailla</a:t>
            </a:r>
            <a:endParaRPr lang="en-US" sz="996" spc="12" dirty="0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ctr">
              <a:lnSpc>
                <a:spcPts val="2417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66966" y="1079862"/>
            <a:ext cx="422970" cy="16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996" spc="12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Group6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78105" y="1288980"/>
            <a:ext cx="677618" cy="1189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sz="996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1237227955 1234197122 1237228397 1237766818 1237967252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847</Words>
  <Application>Microsoft Office PowerPoint</Application>
  <PresentationFormat>Custom</PresentationFormat>
  <Paragraphs>182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IBM Plex Sans Condensed Bold</vt:lpstr>
      <vt:lpstr>IBM Plex Sans</vt:lpstr>
      <vt:lpstr>Calibri</vt:lpstr>
      <vt:lpstr>IBM Plex Sans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KRR_FINAL.pdf</dc:title>
  <dc:creator>Madhurika Kandukoori</dc:creator>
  <cp:lastModifiedBy>Madhurika Kandukoori</cp:lastModifiedBy>
  <cp:revision>4</cp:revision>
  <dcterms:created xsi:type="dcterms:W3CDTF">2006-08-16T00:00:00Z</dcterms:created>
  <dcterms:modified xsi:type="dcterms:W3CDTF">2026-04-28T02:41:18Z</dcterms:modified>
  <dc:identifier>DAHIGW1rY1E</dc:identifier>
</cp:coreProperties>
</file>